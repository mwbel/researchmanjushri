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a1a58b8e8d4bb7" /><Relationship Type="http://schemas.openxmlformats.org/officeDocument/2006/relationships/extended-properties" Target="/docProps/app.xml" Id="R156112050ba34b94" /><Relationship Type="http://schemas.openxmlformats.org/officeDocument/2006/relationships/officeDocument" Target="/ppt/presentation.xml" Id="Re8faff9245264d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5dacfff18140f0"/>
  </p:sldMasterIdLst>
  <p:notesMasterIdLst>
    <p:notesMasterId xmlns:r="http://schemas.openxmlformats.org/officeDocument/2006/relationships" r:id="R91c79e143aa0477f"/>
  </p:notesMasterIdLst>
  <p:sldIdLst>
    <p:sldId xmlns:r="http://schemas.openxmlformats.org/officeDocument/2006/relationships" id="256" r:id="Ra96b3299563145f9"/>
    <p:sldId xmlns:r="http://schemas.openxmlformats.org/officeDocument/2006/relationships" id="257" r:id="Re277096b00984eef"/>
    <p:sldId xmlns:r="http://schemas.openxmlformats.org/officeDocument/2006/relationships" id="258" r:id="R03d1e1d95f09498b"/>
    <p:sldId xmlns:r="http://schemas.openxmlformats.org/officeDocument/2006/relationships" id="259" r:id="R4227bf5b3c0943c3"/>
    <p:sldId xmlns:r="http://schemas.openxmlformats.org/officeDocument/2006/relationships" id="260" r:id="R3e4ed70b22cb461d"/>
    <p:sldId xmlns:r="http://schemas.openxmlformats.org/officeDocument/2006/relationships" id="261" r:id="R2f123bfab19d4ea7"/>
    <p:sldId xmlns:r="http://schemas.openxmlformats.org/officeDocument/2006/relationships" id="262" r:id="R08895bb6ebf94c09"/>
    <p:sldId xmlns:r="http://schemas.openxmlformats.org/officeDocument/2006/relationships" id="263" r:id="R1db0bd79e8e145ab"/>
    <p:sldId xmlns:r="http://schemas.openxmlformats.org/officeDocument/2006/relationships" id="264" r:id="R35ead5c126c94af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5dacfff18140f0" /><Relationship Type="http://schemas.openxmlformats.org/officeDocument/2006/relationships/theme" Target="/ppt/theme/theme1.xml" Id="R35b6175dbe55401c" /><Relationship Type="http://schemas.openxmlformats.org/officeDocument/2006/relationships/notesMaster" Target="/ppt/notesMasters/notesMaster1.xml" Id="R91c79e143aa0477f" /><Relationship Type="http://schemas.openxmlformats.org/officeDocument/2006/relationships/presProps" Target="/ppt/presProps.xml" Id="Re53317ea5f144804" /><Relationship Type="http://schemas.openxmlformats.org/officeDocument/2006/relationships/viewProps" Target="/ppt/viewProps.xml" Id="Rea4e4a13af4e4e58" /><Relationship Type="http://schemas.openxmlformats.org/officeDocument/2006/relationships/tableStyles" Target="/ppt/tableStyles.xml" Id="R4cd4569388084ed4" /><Relationship Type="http://schemas.openxmlformats.org/officeDocument/2006/relationships/slide" Target="/ppt/slides/slide1.xml" Id="Ra96b3299563145f9" /><Relationship Type="http://schemas.openxmlformats.org/officeDocument/2006/relationships/slide" Target="/ppt/slides/slide2.xml" Id="Re277096b00984eef" /><Relationship Type="http://schemas.openxmlformats.org/officeDocument/2006/relationships/slide" Target="/ppt/slides/slide3.xml" Id="R03d1e1d95f09498b" /><Relationship Type="http://schemas.openxmlformats.org/officeDocument/2006/relationships/slide" Target="/ppt/slides/slide4.xml" Id="R4227bf5b3c0943c3" /><Relationship Type="http://schemas.openxmlformats.org/officeDocument/2006/relationships/slide" Target="/ppt/slides/slide5.xml" Id="R3e4ed70b22cb461d" /><Relationship Type="http://schemas.openxmlformats.org/officeDocument/2006/relationships/slide" Target="/ppt/slides/slide6.xml" Id="R2f123bfab19d4ea7" /><Relationship Type="http://schemas.openxmlformats.org/officeDocument/2006/relationships/slide" Target="/ppt/slides/slide7.xml" Id="R08895bb6ebf94c09" /><Relationship Type="http://schemas.openxmlformats.org/officeDocument/2006/relationships/slide" Target="/ppt/slides/slide8.xml" Id="R1db0bd79e8e145ab" /><Relationship Type="http://schemas.openxmlformats.org/officeDocument/2006/relationships/slide" Target="/ppt/slides/slide9.xml" Id="R35ead5c126c94a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c6c00afc9c647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21cff06e9046b1" /><Relationship Type="http://schemas.openxmlformats.org/officeDocument/2006/relationships/notesMaster" Target="/ppt/notesMasters/notesMaster1.xml" Id="Rf252a615dc024e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45fe5b19e24d20" /><Relationship Type="http://schemas.openxmlformats.org/officeDocument/2006/relationships/notesMaster" Target="/ppt/notesMasters/notesMaster1.xml" Id="R47539792e5ff44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aa8e590a0e4b5a" /><Relationship Type="http://schemas.openxmlformats.org/officeDocument/2006/relationships/notesMaster" Target="/ppt/notesMasters/notesMaster1.xml" Id="Racb4fabba80241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05cdab09324e48" /><Relationship Type="http://schemas.openxmlformats.org/officeDocument/2006/relationships/notesMaster" Target="/ppt/notesMasters/notesMaster1.xml" Id="R9deb5168a70c4c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ac805edbdd4209" /><Relationship Type="http://schemas.openxmlformats.org/officeDocument/2006/relationships/notesMaster" Target="/ppt/notesMasters/notesMaster1.xml" Id="R8fb17e3cc68b4d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c887a8c03c48cd" /><Relationship Type="http://schemas.openxmlformats.org/officeDocument/2006/relationships/notesMaster" Target="/ppt/notesMasters/notesMaster1.xml" Id="Rff5945d2ce2f4d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e9150e09674e9e" /><Relationship Type="http://schemas.openxmlformats.org/officeDocument/2006/relationships/notesMaster" Target="/ppt/notesMasters/notesMaster1.xml" Id="R19fbd8a3059645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2b45c271d7419d" /><Relationship Type="http://schemas.openxmlformats.org/officeDocument/2006/relationships/notesMaster" Target="/ppt/notesMasters/notesMaster1.xml" Id="R2ebfdefe3ad845b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c4fc9c4b084eaa" /><Relationship Type="http://schemas.openxmlformats.org/officeDocument/2006/relationships/notesMaster" Target="/ppt/notesMasters/notesMaster1.xml" Id="R46d8381196174d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d03cbb82ac410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0d2df9f6540467f" /><Relationship Type="http://schemas.openxmlformats.org/officeDocument/2006/relationships/slideLayout" Target="/ppt/slideLayouts/slideLayout2.xml" Id="Rdbbec821542945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bec821542945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37be1d1d504dd8" /><Relationship Type="http://schemas.openxmlformats.org/officeDocument/2006/relationships/notesSlide" Target="/ppt/notesSlides/notesSlide1.xml" Id="R3dffc99a1fa743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c6529a061743fe" /><Relationship Type="http://schemas.openxmlformats.org/officeDocument/2006/relationships/notesSlide" Target="/ppt/notesSlides/notesSlide2.xml" Id="R9a54f01043eb4c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2cbdcd0f2643a1" /><Relationship Type="http://schemas.openxmlformats.org/officeDocument/2006/relationships/image" Target="/ppt/media/image.png" Id="Ra1e8b2e4054c46ca" /><Relationship Type="http://schemas.openxmlformats.org/officeDocument/2006/relationships/image" Target="/ppt/media/image.svg" Id="Ra9458da6e94a44fc" /><Relationship Type="http://schemas.openxmlformats.org/officeDocument/2006/relationships/image" Target="/ppt/media/image2.png" Id="R324d7c543dbb4166" /><Relationship Type="http://schemas.openxmlformats.org/officeDocument/2006/relationships/image" Target="/ppt/media/image2.svg" Id="Rafe3b92a96f849cd" /><Relationship Type="http://schemas.openxmlformats.org/officeDocument/2006/relationships/notesSlide" Target="/ppt/notesSlides/notesSlide3.xml" Id="R93a542fbd9d448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1e6a1946d348b9" /><Relationship Type="http://schemas.openxmlformats.org/officeDocument/2006/relationships/image" Target="/ppt/media/image3.png" Id="R9ed892db9630449b" /><Relationship Type="http://schemas.openxmlformats.org/officeDocument/2006/relationships/image" Target="/ppt/media/image3.svg" Id="Raf7b8bbe7d2140ce" /><Relationship Type="http://schemas.openxmlformats.org/officeDocument/2006/relationships/image" Target="/ppt/media/image4.png" Id="R8afea07fe9e448f9" /><Relationship Type="http://schemas.openxmlformats.org/officeDocument/2006/relationships/image" Target="/ppt/media/image4.svg" Id="Rad83d87dfda24ac0" /><Relationship Type="http://schemas.openxmlformats.org/officeDocument/2006/relationships/notesSlide" Target="/ppt/notesSlides/notesSlide4.xml" Id="Rc75bc04c73bd43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7f7702c2414afe" /><Relationship Type="http://schemas.openxmlformats.org/officeDocument/2006/relationships/notesSlide" Target="/ppt/notesSlides/notesSlide5.xml" Id="R46e3e645b3724a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268a7bd3cf4737" /><Relationship Type="http://schemas.openxmlformats.org/officeDocument/2006/relationships/notesSlide" Target="/ppt/notesSlides/notesSlide6.xml" Id="Rd2f9ddcc4d9b41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29d0a22d7d40f5" /><Relationship Type="http://schemas.openxmlformats.org/officeDocument/2006/relationships/notesSlide" Target="/ppt/notesSlides/notesSlide7.xml" Id="Rd134e819d1fc41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f2857cd4e64e1f" /><Relationship Type="http://schemas.openxmlformats.org/officeDocument/2006/relationships/notesSlide" Target="/ppt/notesSlides/notesSlide8.xml" Id="R40a6e36e93a743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652f9204f34b86" /><Relationship Type="http://schemas.openxmlformats.org/officeDocument/2006/relationships/notesSlide" Target="/ppt/notesSlides/notesSlide9.xml" Id="R10c66eb68f9945f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D584F5-F483-497F-AFD3-2A65E85F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0E6170-DA77-43A3-A149-2EE510E3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C2C60E-642E-4943-9168-B28FC451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4953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53776-E7CE-4058-82B9-06E9EEDC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933450"/>
            <a:ext cx="54292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C9D8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23A06-1122-453E-9B24-36AC04F8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811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E9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6E9E"/>
                </a:solidFill>
                <a:latin typeface="Aptos"/>
                <a:ea typeface="Aptos"/>
                <a:cs typeface="Aptos"/>
              </a:rPr>
              <a:t>数值计算专题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157F9-A4B7-4CF3-A5F4-A2D66DE6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4095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奇异值分解 SVD</a:t>
            </a:r>
          </a:p>
          <a:p xmlns:a="http://schemas.openxmlformats.org/drawingml/2006/main">
            <a:pPr algn="l">
              <a:defRPr sz="255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及其在数值计算中的应用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14454F-61FA-4E0A-B42D-D2B55B70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4095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从矩阵结构、几何意义到稳定算法与典型应用，理解 SVD 为什么是数值线性代数中的基础工具。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B5E13-AB13-4A40-8534-563887F9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006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适用场景：最小二乘、降维、压缩、降噪、矩阵近似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B40335-C94D-4C4A-996F-057A220E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76350"/>
            <a:ext cx="1143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6534B9-471C-4433-95A3-82E036F4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39065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6E9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6E9E"/>
                </a:solidFill>
                <a:latin typeface="Aptos"/>
                <a:ea typeface="Aptos"/>
                <a:cs typeface="Aptos"/>
              </a:rPr>
              <a:t>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1DAE74-B737-46FD-9286-19E02A1A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14500"/>
            <a:ext cx="2857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FE2311-B228-460F-8CCD-C4FAC13F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1714500"/>
            <a:ext cx="2857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853A5F-1142-48A2-AB16-497CAEF1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790700"/>
            <a:ext cx="4191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rPr>
              <a:t>u₁</a:t>
            </a:r>
          </a:p>
          <a:p xmlns:a="http://schemas.openxmlformats.org/drawingml/2006/main">
            <a:pPr algn="ctr">
              <a:def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rPr>
              <a:t>u₂</a:t>
            </a:r>
          </a:p>
          <a:p xmlns:a="http://schemas.openxmlformats.org/drawingml/2006/main">
            <a:pPr algn="ctr">
              <a:def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rPr>
              <a:t>⋮</a:t>
            </a:r>
          </a:p>
          <a:p xmlns:a="http://schemas.openxmlformats.org/drawingml/2006/main">
            <a:pPr algn="ctr">
              <a:def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rPr>
              <a:t>uₘ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14E423-5A21-4AC5-B63E-09AEC7FD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76350"/>
            <a:ext cx="1143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704678-462F-4584-A634-21B0CE3F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39065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7A2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7A23D"/>
                </a:solidFill>
                <a:latin typeface="Aptos"/>
                <a:ea typeface="Aptos"/>
                <a:cs typeface="Aptos"/>
              </a:rPr>
              <a:t>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CBE778-2411-49C9-AE74-47EBC6EC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14500"/>
            <a:ext cx="2857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0020DD-9E1B-4F45-AA3A-36B5A63C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714500"/>
            <a:ext cx="2857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5FF535-6EE3-4260-9081-7CD408CB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90700"/>
            <a:ext cx="4191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rPr>
              <a:t>σ₁</a:t>
            </a:r>
          </a:p>
          <a:p xmlns:a="http://schemas.openxmlformats.org/drawingml/2006/main">
            <a:pPr algn="ctr">
              <a:def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rPr>
              <a:t>σ₂</a:t>
            </a:r>
          </a:p>
          <a:p xmlns:a="http://schemas.openxmlformats.org/drawingml/2006/main">
            <a:pPr algn="ctr">
              <a:def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rPr>
              <a:t>⋱</a:t>
            </a:r>
          </a:p>
          <a:p xmlns:a="http://schemas.openxmlformats.org/drawingml/2006/main">
            <a:pPr algn="ctr">
              <a:def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rPr>
              <a:t>σᵣ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F932A9-9454-4B62-AF26-C128EC20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276350"/>
            <a:ext cx="1428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67657A-A1DB-40C3-B963-918F1D5B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906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B6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B64"/>
                </a:solidFill>
                <a:latin typeface="Aptos"/>
                <a:ea typeface="Aptos"/>
                <a:cs typeface="Aptos"/>
              </a:rPr>
              <a:t>Vᵀ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0E13EF-069A-4A3F-BD43-3117CCB2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714500"/>
            <a:ext cx="2857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74C497-B529-4470-B0CE-935D7EF8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714500"/>
            <a:ext cx="2857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929D08-F701-432C-8F74-F6FE324F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790700"/>
            <a:ext cx="7048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rPr>
              <a:t>v₁ᵀ</a:t>
            </a:r>
          </a:p>
          <a:p xmlns:a="http://schemas.openxmlformats.org/drawingml/2006/main">
            <a:pPr algn="ctr">
              <a:def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rPr>
              <a:t>v₂ᵀ</a:t>
            </a:r>
          </a:p>
          <a:p xmlns:a="http://schemas.openxmlformats.org/drawingml/2006/main">
            <a:pPr algn="ctr">
              <a:def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rPr>
              <a:t>⋮</a:t>
            </a:r>
          </a:p>
          <a:p xmlns:a="http://schemas.openxmlformats.org/drawingml/2006/main">
            <a:pPr algn="ctr">
              <a:def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rPr>
              <a:t>vₙᵀ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C04730-018F-4C41-B707-875D5EEB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1485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23B6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23B64"/>
                </a:solidFill>
                <a:latin typeface="Aptos"/>
                <a:ea typeface="Aptos"/>
                <a:cs typeface="Aptos"/>
              </a:rPr>
              <a:t>A = UΣVᵀ</a:t>
            </a:r>
          </a:p>
        </p:txBody>
      </p:sp>
    </p:spTree>
    <p:extLst>
      <p:ext uri="{BB962C8B-B14F-4D97-AF65-F5344CB8AC3E}">
        <p14:creationId xmlns:p14="http://schemas.microsoft.com/office/powerpoint/2010/main" val="19966059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2232D3-C8E4-4F40-8FCD-0B3588EE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28EF6-3949-49D9-BFCF-BF857077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E3D565-75A0-4782-934B-9FD5FB34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E9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6E9E"/>
                </a:solidFill>
                <a:latin typeface="Aptos"/>
                <a:ea typeface="Aptos"/>
                <a:cs typeface="Aptos"/>
              </a:rPr>
              <a:t>问题背景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0D559A-CDC8-4734-85BE-09387F30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为什么要研究 SVD？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430D8-1CEC-4F9D-B8F4-0717CFE4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876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SVD 之所以重要，在于它能把任意矩阵拆成“旋转/反射 + 拉伸 + 旋转/反射”的标准结构。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885CC7-F998-4856-BA0F-CF3628AF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0CAF9-C999-4F14-BF99-38E3C2C3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Numerical Linear Algebra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9A552F-99B0-4426-A6AB-A402B251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8E4935-7973-490E-A385-30816FA7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BCCD90-6BE0-4B1F-8949-C90B4236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1930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对任意实矩阵 A∈R^(m×n) 都存在，不要求方阵，也不要求可逆。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37390F-2C34-4BB9-B283-2AEE5EB0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CB9170-4D8A-4937-832A-564C61FD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5270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能揭示矩阵的秩、主方向、能量分布和病态程度。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A3EDE3-8917-4731-A106-24E89AFE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3EFF5E-8D85-40DD-8428-F173F812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8610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在数值计算中比直接求特征分解更稳健，尤其适合非方阵与近奇异问题。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CCA5C9-1920-41AC-924A-AE9993AA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38350"/>
            <a:ext cx="46101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C12F8E-95C4-4ABD-8F78-203E7A26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3835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0EDBE9-9434-4700-9B92-3306E8B1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09800"/>
            <a:ext cx="426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它回答了三个核心问题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5389FE-65A2-4DB0-A499-593AE957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71750"/>
            <a:ext cx="4229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矩阵把空间中的向量“拉到哪里去”？</a:t>
            </a:r>
          </a:p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哪些方向被放大最多？</a:t>
            </a:r>
          </a:p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如果只保留最重要的信息，应该留下哪些分量？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9EF537-372B-4E33-9FC7-EF8EC587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319087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96A961-A93B-4F4D-B3E1-9251C4E2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57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C093AA-E26E-44B6-912C-DFB0D27E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29150"/>
            <a:ext cx="28479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数值稳定性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A471A4-9285-4E53-95ED-5BEEAF1E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91100"/>
            <a:ext cx="2809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SVD 是求伪逆和最小二乘问题的标准工具，面对病态矩阵时尤其可靠。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9A5D8B-3AFF-4E09-8117-2583CD75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57700"/>
            <a:ext cx="319087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BBE528-0790-4D89-8770-E70D4E8A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57700"/>
            <a:ext cx="57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97ADE1-862F-4442-9D90-945C2735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629150"/>
            <a:ext cx="28479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结构解释力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2F6CCD-C51E-4F55-A9BE-6542992E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991100"/>
            <a:ext cx="2809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奇异值大小反映矩阵作用强度，左右奇异向量刻画输入/输出空间的主方向。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2398D9-12EF-4AE7-AAC0-78EBA56D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57700"/>
            <a:ext cx="319087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474AA5-CCC8-4B60-AE7E-991CBC2E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57700"/>
            <a:ext cx="57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C06C43-9C54-4EC4-8DCB-1E8C825A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29150"/>
            <a:ext cx="28479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应用范围广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FE2DA0-2FDF-43C7-B58D-4176E988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991100"/>
            <a:ext cx="2809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从图像压缩、推荐系统到 PCA 与数据降噪，几乎都能看到 SVD 的影子。</a:t>
            </a:r>
          </a:p>
        </p:txBody>
      </p:sp>
    </p:spTree>
    <p:extLst>
      <p:ext uri="{BB962C8B-B14F-4D97-AF65-F5344CB8AC3E}">
        <p14:creationId xmlns:p14="http://schemas.microsoft.com/office/powerpoint/2010/main" val="40259015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BB6A78-B4AC-4C58-A629-C1E24FE8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7FA2C8-D4E3-43FB-9C99-1C6E87EB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379BAC-F644-4E11-9028-5F99D5B1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E9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6E9E"/>
                </a:solidFill>
                <a:latin typeface="Aptos"/>
                <a:ea typeface="Aptos"/>
                <a:cs typeface="Aptos"/>
              </a:rPr>
              <a:t>定义与定理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E9660-D423-4FAF-AD9B-236C78BD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SVD 的标准形式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C2DC44-173D-44D9-AA3B-981A53F4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876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任何矩阵都可以写成左右正交基与非负对角缩放的乘积。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A6A55D-6314-48EE-B880-16777AA1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0BA42D-E182-4133-AE55-AFB46522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Numerical Linear Algebra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F786F-9359-4E89-BAB7-1E41EC30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83997-6085-4071-8ADA-FBB141DF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10553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B"/>
          </a:solidFill>
          <a:ln xmlns:a="http://schemas.openxmlformats.org/drawingml/2006/main" w="9525">
            <a:solidFill>
              <a:srgbClr val="C8D8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8080E6-D6DF-4B44-8B45-54ED1BBF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10210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3B64"/>
                </a:solidFill>
                <a:latin typeface="Aptos Mono"/>
                <a:ea typeface="Aptos Mono"/>
                <a:cs typeface="Aptos Mono"/>
              </a:defRPr>
            </a:pPr>
            <a:r>
              <a:rPr sz="1950" b="1">
                <a:solidFill>
                  <a:srgbClr val="123B64"/>
                </a:solidFill>
                <a:latin typeface="Aptos Mono"/>
                <a:ea typeface="Aptos Mono"/>
                <a:cs typeface="Aptos Mono"/>
              </a:rPr>
              <a:t>A = UΣVᵀ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E3C532-3F38-406B-9C02-1C18880B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90850"/>
            <a:ext cx="2095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303175-9DFD-4A49-9D22-6B421F7D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051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6E9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6E9E"/>
                </a:solidFill>
                <a:latin typeface="Aptos"/>
                <a:ea typeface="Aptos"/>
                <a:cs typeface="Aptos"/>
              </a:rPr>
              <a:t>U ∈ R^(m×m)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239C89-9148-4392-84F5-F52FA336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29000"/>
            <a:ext cx="285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BC1DEF-BFFD-49EB-B354-392F914D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429000"/>
            <a:ext cx="285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0307EE-BB8D-4460-8153-B1C432E4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05200"/>
            <a:ext cx="13716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rPr>
              <a:t>UᵀU = I</a:t>
            </a:r>
          </a:p>
          <a:p xmlns:a="http://schemas.openxmlformats.org/drawingml/2006/main">
            <a:pPr algn="ctr">
              <a:def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rPr>
              <a:t>列向量为左奇异向量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e8b2e4054c46ca">
            <a:extLst>
              <a:ext uri="{96DAC541-7B7A-43D3-8B79-37D633B846F1}">
                <asvg:svgBlip xmlns:asvg="http://schemas.microsoft.com/office/drawing/2016/SVG/main" r:embed="Ra9458da6e94a44f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314700" y="38290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6211E5-6E12-43D7-83E9-036E611F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90850"/>
            <a:ext cx="2095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F5F90C-08E2-40CE-BDF3-F0635BD7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051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7A2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7A23D"/>
                </a:solidFill>
                <a:latin typeface="Aptos"/>
                <a:ea typeface="Aptos"/>
                <a:cs typeface="Aptos"/>
              </a:rPr>
              <a:t>Σ ∈ R^(m×n)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06EF79-7912-4CEB-AD59-2F373C6C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29000"/>
            <a:ext cx="285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D5303A-46D8-4AE5-B99D-A793930B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429000"/>
            <a:ext cx="285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71F2B3-7990-4014-9D79-C6B53C84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05200"/>
            <a:ext cx="13716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rPr>
              <a:t>σ₁ ≥ σ₂ ≥ ... ≥ σᵣ &gt; 0</a:t>
            </a:r>
          </a:p>
          <a:p xmlns:a="http://schemas.openxmlformats.org/drawingml/2006/main">
            <a:pPr algn="ctr">
              <a:def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rPr>
              <a:t>其余元素为 0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4d7c543dbb4166">
            <a:extLst>
              <a:ext uri="{96DAC541-7B7A-43D3-8B79-37D633B846F1}">
                <asvg:svgBlip xmlns:asvg="http://schemas.microsoft.com/office/drawing/2016/SVG/main" r:embed="Rafe3b92a96f849c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115050" y="38290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240957-B01C-46D2-BCB2-4EEE0A2C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90850"/>
            <a:ext cx="2095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170196-2FB6-4FF6-AA00-C023BFEA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051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B6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B64"/>
                </a:solidFill>
                <a:latin typeface="Aptos"/>
                <a:ea typeface="Aptos"/>
                <a:cs typeface="Aptos"/>
              </a:rPr>
              <a:t>V ∈ R^(n×n)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63AC86-FDB2-4ABC-9A08-D93308BB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29000"/>
            <a:ext cx="285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D96C92-118B-4B59-B27C-CF070D81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429000"/>
            <a:ext cx="285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AEF8C6-E726-4F40-8706-BAECC1EB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505200"/>
            <a:ext cx="13716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rPr>
              <a:t>VᵀV = I</a:t>
            </a:r>
          </a:p>
          <a:p xmlns:a="http://schemas.openxmlformats.org/drawingml/2006/main">
            <a:pPr algn="ctr">
              <a:def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rPr>
              <a:t>列向量为右奇异向量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343138-EB16-4C3A-994B-EADE2FFB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90850"/>
            <a:ext cx="2095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BF6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4DA792-A7F6-4C53-8739-CCA20E93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051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8B5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8B57"/>
                </a:solidFill>
                <a:latin typeface="Aptos"/>
                <a:ea typeface="Aptos"/>
                <a:cs typeface="Aptos"/>
              </a:rPr>
              <a:t>秩信息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1CCFF0-5ED1-480E-A644-0EC1DF68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29000"/>
            <a:ext cx="285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ADF645-B732-4EEA-829B-E51DC23C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3429000"/>
            <a:ext cx="285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FBF2B2-CD60-4315-B524-94EB3F57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505200"/>
            <a:ext cx="13716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rPr>
              <a:t>rank(A)=非零奇异值个数</a:t>
            </a:r>
          </a:p>
          <a:p xmlns:a="http://schemas.openxmlformats.org/drawingml/2006/main">
            <a:pPr algn="ctr">
              <a:def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rPr>
              <a:t>σ_min 体现接近奇异的程度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94940F-2DBC-41CE-90C8-86A3F3C7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0545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补充关系：AᵀA 的特征值为 σᵢ²，V 的列向量是 AᵀA 的特征向量；AAᵀ 的特征向量对应 U。</a:t>
            </a:r>
          </a:p>
        </p:txBody>
      </p:sp>
    </p:spTree>
    <p:extLst>
      <p:ext uri="{BB962C8B-B14F-4D97-AF65-F5344CB8AC3E}">
        <p14:creationId xmlns:p14="http://schemas.microsoft.com/office/powerpoint/2010/main" val="12382682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196D68-FDE3-4659-981F-836708FC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AF8A8-1BA4-4319-8927-50E04742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D561F2-943F-48BF-B2C6-4487388B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E9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6E9E"/>
                </a:solidFill>
                <a:latin typeface="Aptos"/>
                <a:ea typeface="Aptos"/>
                <a:cs typeface="Aptos"/>
              </a:rPr>
              <a:t>几何直观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8979C0-1641-4CA1-A4AC-AD432BE3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把单位球变成椭球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FCB40E-1FE1-4DAA-A97E-FB709C8A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876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SVD 的几何意义：Vᵀ 先换坐标，Σ 再沿正交方向拉伸，U 最后把结果旋转到输出空间。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BAFCD6-4EB1-4779-995B-BED3AB46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E4BA4-A763-4156-A909-6C5A7537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Numerical Linear Algebra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AEFF97-D07F-4A88-8DF0-4E7855C9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9E96A-DB24-4EB9-8ECC-4C6C4411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2381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C14D24-BDB2-42AB-A971-C5178F4C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2A36BC-48B0-45EC-AAC3-A5941959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2885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步骤 1: Vᵀ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68509B-71DD-4540-A8DC-26F973E7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90800"/>
            <a:ext cx="20002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在输入空间中做正交变换。</a:t>
            </a:r>
          </a:p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不改变长度，只改变观察坐标系。</a:t>
            </a:r>
          </a:p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因此先把问题转到“最合适的方向基”中。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d892db9630449b">
            <a:extLst>
              <a:ext uri="{96DAC541-7B7A-43D3-8B79-37D633B846F1}">
                <asvg:svgBlip xmlns:asvg="http://schemas.microsoft.com/office/drawing/2016/SVG/main" r:embed="Raf7b8bbe7d2140c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29000" y="32194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70095A-927B-4049-B480-E3B2F6AD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57400"/>
            <a:ext cx="2381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79A21E-CE0F-4BC4-BF24-1AE56BEC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5740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3BE0AE-74A2-40A9-A20A-96DCBB2B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2885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步骤 2: 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8A2516-B8FD-4206-8A2D-3A249AAC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90800"/>
            <a:ext cx="20002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沿各坐标轴独立缩放。</a:t>
            </a:r>
          </a:p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σ₁,σ₂,... 表示拉伸强弱。</a:t>
            </a:r>
          </a:p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小奇异值对应的信息容易被噪声淹没。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fea07fe9e448f9">
            <a:extLst>
              <a:ext uri="{96DAC541-7B7A-43D3-8B79-37D633B846F1}">
                <asvg:svgBlip xmlns:asvg="http://schemas.microsoft.com/office/drawing/2016/SVG/main" r:embed="Rad83d87dfda24ac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10350" y="32194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AC053A-E7CD-45B7-ABCA-1403AFD6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57400"/>
            <a:ext cx="2381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5D1B2D-B9D4-4062-8720-A1952587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5740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0F0CEB-7C3F-4FD7-BEE3-6CAEE1AF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2885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步骤 3: U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A9E0E5-3EFF-4B90-B844-8BEFEBAA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90800"/>
            <a:ext cx="20002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在输出空间做正交变换。</a:t>
            </a:r>
          </a:p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把已经拉伸好的椭球转到最终方向。</a:t>
            </a:r>
          </a:p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因此输出的主轴方向就是左奇异向量。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BE31B7-53EA-47E0-AC7A-69614222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247900"/>
            <a:ext cx="1181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B"/>
          </a:solidFill>
          <a:ln xmlns:a="http://schemas.openxmlformats.org/drawingml/2006/main" w="19050">
            <a:solidFill>
              <a:srgbClr val="C7D8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DEC92D-A766-40D9-B7A9-9744AEA5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571750"/>
            <a:ext cx="72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单位圆/</a:t>
            </a:r>
          </a:p>
          <a:p xmlns:a="http://schemas.openxmlformats.org/drawingml/2006/main">
            <a:pPr algn="ctr">
              <a:defRPr sz="150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单位球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1D7E63-94E8-45F4-9B01-E38369D1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733800"/>
            <a:ext cx="10668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8"/>
          </a:solidFill>
          <a:ln xmlns:a="http://schemas.openxmlformats.org/drawingml/2006/main" w="19050">
            <a:solidFill>
              <a:srgbClr val="E1B14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DE31CC-E911-41C7-B5DE-74EC40C2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324350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椭球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BC905F-A003-4B74-BABB-04645A8C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81650"/>
            <a:ext cx="10363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结论：最大的奇异值给出最大放大倍数，最小奇异值衡量最弱方向；当某些奇异值非常小，矩阵就接近降秩。</a:t>
            </a:r>
          </a:p>
        </p:txBody>
      </p:sp>
    </p:spTree>
    <p:extLst>
      <p:ext uri="{BB962C8B-B14F-4D97-AF65-F5344CB8AC3E}">
        <p14:creationId xmlns:p14="http://schemas.microsoft.com/office/powerpoint/2010/main" val="154031130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C2EFEA-74D0-4E93-8329-7C6834B2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96725-3104-41FB-9895-954C8609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CB0485-E4DA-4F67-9D39-B751B902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E9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6E9E"/>
                </a:solidFill>
                <a:latin typeface="Aptos"/>
                <a:ea typeface="Aptos"/>
                <a:cs typeface="Aptos"/>
              </a:rPr>
              <a:t>数值算法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162BD7-B848-4448-96DD-78D73C77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计算机如何稳定地求 SVD？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A062B-2DBD-4360-837B-EB6AAB62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876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工程实现通常不是“先求 AᵀA 再开根号”，而是采用更稳定的正交变换路线。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52EE9B-524C-4315-884C-E91A45CA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D022BF-34FD-4CF3-861F-ABF53872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Numerical Linear Algebra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D085E8-3872-49EB-AEEF-2AD9C5DA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1E2025-7B97-437D-AE19-C6742788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10515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B"/>
          </a:solidFill>
          <a:ln xmlns:a="http://schemas.openxmlformats.org/drawingml/2006/main" w="9525">
            <a:solidFill>
              <a:srgbClr val="C8D8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017053-B804-4F48-B0C0-F2BD1BC0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14550"/>
            <a:ext cx="10172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3B64"/>
                </a:solidFill>
                <a:latin typeface="Aptos Mono"/>
                <a:ea typeface="Aptos Mono"/>
                <a:cs typeface="Aptos Mono"/>
              </a:defRPr>
            </a:pPr>
            <a:r>
              <a:rPr sz="1950" b="1">
                <a:solidFill>
                  <a:srgbClr val="123B64"/>
                </a:solidFill>
                <a:latin typeface="Aptos Mono"/>
                <a:ea typeface="Aptos Mono"/>
                <a:cs typeface="Aptos Mono"/>
              </a:rPr>
              <a:t>A  →  双对角化 B  →  对 B 做 QR/分治迭代  →  得到 U, Σ, 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C96911-AD9C-49C8-9289-B6598EC8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24765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0E63CD-10C9-47DE-8EB2-16BC6DF1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57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209517-70BE-4466-95DB-850BA50E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1. Householder 双对角化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87B67A-67AF-45BA-96B9-F57EA1CC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05200"/>
            <a:ext cx="20955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用一系列正交变换把一般矩阵约化为双对角矩阵 B。</a:t>
            </a:r>
          </a:p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优点是数值稳定，且保留奇异值不变。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07026C-7CD0-4AFB-8852-5D4E4D44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71800"/>
            <a:ext cx="24765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689E7D-C8F4-4126-8B58-9DA5F7E9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71800"/>
            <a:ext cx="57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2D9367-772E-4D59-91F1-D55BF788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4325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2. 迭代求奇异值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FC2A4F-9317-425E-B2FA-5B259A41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05200"/>
            <a:ext cx="20955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对更小、更结构化的 B 做 QR 迭代或分治算法。</a:t>
            </a:r>
          </a:p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这是 LAPACK、MATLAB、NumPy 等库的典型思路。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A3E984-FF18-4774-97B1-00DC7DBC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71800"/>
            <a:ext cx="24765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0A3CC3-3AA2-45FB-B484-937312F0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71800"/>
            <a:ext cx="57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154A06-5539-4FD2-BFB2-F95713C5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4325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3. 回乘恢复奇异向量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4BFE79-7874-4FE0-ADB8-0E7C104E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05200"/>
            <a:ext cx="20955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把累计的正交变换乘回去，得到左右奇异向量。</a:t>
            </a:r>
          </a:p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需要时也可只求部分奇异值/奇异向量。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D4E817-18BF-4551-B306-5F63A801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71800"/>
            <a:ext cx="22860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6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FF97E2-A93E-48FF-A829-0BFB900C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71800"/>
            <a:ext cx="57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B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F2490E-77A2-4CF3-BDFD-B894E23D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43250"/>
            <a:ext cx="1943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为什么不直接算 AᵀA？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BD5A72-477B-4030-AC30-8A255676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05200"/>
            <a:ext cx="19050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因为条件数会平方，误差被放大。</a:t>
            </a:r>
          </a:p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当矩阵病态时，直接特征分解会丢失精度。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FFD0CE-3F21-4FEC-A78C-96B3E84B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1028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实践建议：大规模稀疏问题常用截断 SVD、Lanczos、随机 SVD；全量稠密问题则交给成熟线性代数库。</a:t>
            </a:r>
          </a:p>
        </p:txBody>
      </p:sp>
    </p:spTree>
    <p:extLst>
      <p:ext uri="{BB962C8B-B14F-4D97-AF65-F5344CB8AC3E}">
        <p14:creationId xmlns:p14="http://schemas.microsoft.com/office/powerpoint/2010/main" val="5330934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7313E0-1C1A-469B-973E-58F77937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E5EF1-9CF2-43BE-821D-6781DB9E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119D8-FE85-4C33-B4F1-C73FF8C1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E9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6E9E"/>
                </a:solidFill>
                <a:latin typeface="Aptos"/>
                <a:ea typeface="Aptos"/>
                <a:cs typeface="Aptos"/>
              </a:rPr>
              <a:t>低秩近似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16902-E224-41E1-9571-48116F14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截断 SVD 给出最优 rank-k 逼近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F3D98C-77BC-48CF-BFE5-57C41260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876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保留最大的 k 个奇异值，就能在误差最小的意义下得到最佳低秩近似。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597D12-085C-4151-9578-6D3DAA75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F0C884-D8CA-4E80-AD72-7AAD2635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Numerical Linear Algebra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9FABD-64BF-4283-A533-42A82222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662E27-35AF-43E7-9595-A3A4FF4B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495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B"/>
          </a:solidFill>
          <a:ln xmlns:a="http://schemas.openxmlformats.org/drawingml/2006/main" w="9525">
            <a:solidFill>
              <a:srgbClr val="C8D8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D6F17C-250C-4BB1-84F9-9F76EAAB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4610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3B64"/>
                </a:solidFill>
                <a:latin typeface="Aptos Mono"/>
                <a:ea typeface="Aptos Mono"/>
                <a:cs typeface="Aptos Mono"/>
              </a:defRPr>
            </a:pPr>
            <a:r>
              <a:rPr sz="1950" b="1">
                <a:solidFill>
                  <a:srgbClr val="123B64"/>
                </a:solidFill>
                <a:latin typeface="Aptos Mono"/>
                <a:ea typeface="Aptos Mono"/>
                <a:cs typeface="Aptos Mono"/>
              </a:rPr>
              <a:t>A_k = Σ(i=1→k) σᵢ uᵢ vᵢᵀ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582D34-E352-48AA-B826-153C56E0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49530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FD11DD-CDB1-49D8-82A8-30C864AC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571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CEE091-D30B-46C0-AF92-5B15BC7D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86100"/>
            <a:ext cx="4610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Eckart-Young 定理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2A9648-8319-4CD3-965A-2C014EFE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4572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在二范数或 Frobenius 范数下，所有 rank(A_k)=k 的矩阵里，截断 SVD 的 A_k 与原矩阵 A 的距离最小。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这意味着：若只允许保留有限维信息，选最大的奇异值方向就是最优策略。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9C312C-AED8-4B65-972B-D4E26292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95550"/>
            <a:ext cx="428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AC72F8-E18C-4A84-AC47-E918CE68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955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B4C72D-94F5-4C88-BF18-8ECD1EBD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146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σ₁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ABF7A1-29D6-4116-A452-07D7583F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7655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9052ED-506F-4781-99B5-13DE9014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8956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σ₂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D0EBCC-904C-405C-9862-CFBF5A21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575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94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249200-BD98-4B57-AEFC-3CD0A38F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2766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σ₃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523875-DBB7-4F1E-8A31-56CE8A91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385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B3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B53FF2-0176-4AC3-90BB-E2B1D812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6576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σ₄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F28A1C-26B7-4D7F-B8EF-8821FDE1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195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2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7CB0C0-7351-483C-BA9D-7AEC7EE4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0386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σ₅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4D9AA3-F118-44FA-96FC-FD63841F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33900"/>
            <a:ext cx="4286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若只保留前 k=2 项，就抓住了绝大部分能量。</a:t>
            </a:r>
          </a:p>
          <a:p xmlns:a="http://schemas.openxmlformats.org/drawingml/2006/main">
            <a:pPr algn="l">
              <a:defRPr sz="127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这正是压缩、去噪和降维的理论基础。</a:t>
            </a:r>
          </a:p>
        </p:txBody>
      </p:sp>
    </p:spTree>
    <p:extLst>
      <p:ext uri="{BB962C8B-B14F-4D97-AF65-F5344CB8AC3E}">
        <p14:creationId xmlns:p14="http://schemas.microsoft.com/office/powerpoint/2010/main" val="20064143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9EDA8D-7259-483A-8B68-5C2C8232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CAD3D-AB2E-4A1F-8E79-D35018A7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D2B6C2-F2FF-46F2-AC2C-726D85E1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E9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6E9E"/>
                </a:solidFill>
                <a:latin typeface="Aptos"/>
                <a:ea typeface="Aptos"/>
                <a:cs typeface="Aptos"/>
              </a:rPr>
              <a:t>典型应用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A8FAAE-4C31-4E84-8E84-C5A09FD1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SVD 在哪些问题里真正发挥作用？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BA42E8-9373-4537-94DF-5EAB0254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876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它既是理论分解工具，也是工程计算中的“万能中间层”。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8B53C5-0FEA-4075-84BB-D83552A7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7B49F-9C29-4C4B-8840-4D7E32FD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Numerical Linear Algebra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CF0039-C9EF-46CC-BEC3-64607F2B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0EBE54-99D8-4334-9982-E20B8E94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DFBEEB-2CB5-41DC-8F92-5E04793B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571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D8A343-9E88-41FB-A61B-6A9A21C1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最小二乘与伪逆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0DE8CB-33BF-4289-84E5-FFE38FFE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28956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对超定方程 Ax≈b，SVD 给出 Moore-Penrose 伪逆：</a:t>
            </a:r>
          </a:p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A⁺ = VΣ⁺Uᵀ。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于是最小二乘解 x*=A⁺b 能自然处理秩亏和病态情况。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F0579C-C19E-40E2-B807-533C9E88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3835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49534C-9C26-488B-BC8A-07850B1A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38350"/>
            <a:ext cx="571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EF4C53-5AAF-48AB-A8E9-14D88BC6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0980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主成分分析 PCA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D90577-FA78-47DD-A725-EA1B759D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28956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对中心化数据矩阵 X 做 SVD，可直接得到主方向。</a:t>
            </a:r>
          </a:p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右奇异向量对应主成分方向，奇异值平方反映方差贡献。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C050F1-14C3-4871-940D-4DE2F46C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3835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721ECE-1B08-49A9-96DC-47D498EB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38350"/>
            <a:ext cx="571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C54067-0379-4F44-A321-61A2CA8D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0980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压缩与降噪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279855-C78D-4573-807B-4A9878D9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71750"/>
            <a:ext cx="28956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保留前 k 个奇异值，丢弃小奇异值，既能减少存储，又能过滤弱噪声。</a:t>
            </a:r>
          </a:p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图像压缩、推荐系统、语义检索都常用这类思想。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BE5896-2D8F-441B-9315-C0D7E2B9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344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一句话概括：当问题里出现“主方向、低秩结构、病态求解、信息压缩”时，SVD 往往就是合适的工具。</a:t>
            </a:r>
          </a:p>
        </p:txBody>
      </p:sp>
    </p:spTree>
    <p:extLst>
      <p:ext uri="{BB962C8B-B14F-4D97-AF65-F5344CB8AC3E}">
        <p14:creationId xmlns:p14="http://schemas.microsoft.com/office/powerpoint/2010/main" val="165590295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4F04F4-73E0-4C52-9814-3388110A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93A0C1-CE46-4E1E-83BF-FB279819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EB16F-5BE5-4F17-9A5A-53EECBC9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E9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6E9E"/>
                </a:solidFill>
                <a:latin typeface="Aptos"/>
                <a:ea typeface="Aptos"/>
                <a:cs typeface="Aptos"/>
              </a:rPr>
              <a:t>简单例子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F4AFE-1D35-47F0-B4C0-D0C4A173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二维矩阵的低秩近似直觉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B7E74-033D-4039-B1CE-DB372548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876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通过一个 2×2 例子看“保留最大奇异值”意味着什么。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7B2F0A-479D-454F-9404-6D817DA1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6CC3DF-46A5-4B5E-99FB-D0D5B284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Numerical Linear Algebra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B6EDB1-E088-4D8E-B1C7-53549B65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1B5141-919D-4DEE-A5D0-F8DC5971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18097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C8D1F7-4C99-49C0-BB28-E3F63D8B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B6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B64"/>
                </a:solidFill>
                <a:latin typeface="Aptos"/>
                <a:ea typeface="Aptos"/>
                <a:cs typeface="Aptos"/>
              </a:rPr>
              <a:t>原矩阵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5B43A9-9578-4237-BC8C-E6C74A61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05100"/>
            <a:ext cx="285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23C96E-5A99-4117-961B-A1B62315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705100"/>
            <a:ext cx="285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048B81-051A-4D45-976F-E5D4084D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81300"/>
            <a:ext cx="1085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rPr>
              <a:t>3   1</a:t>
            </a:r>
          </a:p>
          <a:p xmlns:a="http://schemas.openxmlformats.org/drawingml/2006/main">
            <a:pPr algn="ctr">
              <a:def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rPr>
              <a:t>1   3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B52AE6-1868-4DEF-A23F-D6B82B3C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2209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这个矩阵沿着 [1,1]ᵀ 与 [1,-1]ᵀ 两个正交方向作用强度不同。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24F697-F303-4BBD-A9EB-CCF61C52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43150"/>
            <a:ext cx="377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B"/>
          </a:solidFill>
          <a:ln xmlns:a="http://schemas.openxmlformats.org/drawingml/2006/main" w="9525">
            <a:solidFill>
              <a:srgbClr val="C8D8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B02F69-B097-4C93-9A56-8574C5A7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76500"/>
            <a:ext cx="342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3B64"/>
                </a:solidFill>
                <a:latin typeface="Aptos Mono"/>
                <a:ea typeface="Aptos Mono"/>
                <a:cs typeface="Aptos Mono"/>
              </a:defRPr>
            </a:pPr>
            <a:r>
              <a:rPr sz="1950" b="1">
                <a:solidFill>
                  <a:srgbClr val="123B64"/>
                </a:solidFill>
                <a:latin typeface="Aptos Mono"/>
                <a:ea typeface="Aptos Mono"/>
                <a:cs typeface="Aptos Mono"/>
              </a:rPr>
              <a:t>奇异值：σ₁=4,  σ₂=2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293DE3-D36C-4B38-94A1-F2268FD1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219450"/>
            <a:ext cx="3162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若只保留最大的 σ₁，对应 rank-1 近似：</a:t>
            </a:r>
          </a:p>
          <a:p xmlns:a="http://schemas.openxmlformats.org/drawingml/2006/main">
            <a:pPr algn="ctr">
              <a:defRPr sz="165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A₁ = 4·u₁v₁ᵀ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64B7BE-8303-4BE9-8082-01062ADA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29100"/>
            <a:ext cx="342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近似后的矩阵只保留“最主要的拉伸方向”，</a:t>
            </a:r>
          </a:p>
          <a:p xmlns:a="http://schemas.openxmlformats.org/drawingml/2006/main">
            <a:pPr algn="ctr">
              <a:defRPr sz="127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因此信息更少，但主结构被保留。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96A4F6-510F-4065-B632-548F1E20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20383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148268-B390-4B69-8861-CD444F4A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812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7A2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7A23D"/>
                </a:solidFill>
                <a:latin typeface="Aptos"/>
                <a:ea typeface="Aptos"/>
                <a:cs typeface="Aptos"/>
              </a:rPr>
              <a:t>rank-1 近似 A₁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C16544-3CE7-4E7A-A0ED-75083F3F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05100"/>
            <a:ext cx="285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530464-E1F5-4D09-9B72-BDB617D8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705100"/>
            <a:ext cx="285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79CF6C-6336-4BC2-95E4-94260666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1314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rPr>
              <a:t>2   2</a:t>
            </a:r>
          </a:p>
          <a:p xmlns:a="http://schemas.openxmlformats.org/drawingml/2006/main">
            <a:pPr algn="ctr">
              <a:def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E293B"/>
                </a:solidFill>
                <a:latin typeface="Aptos Mono"/>
                <a:ea typeface="Aptos Mono"/>
                <a:cs typeface="Aptos Mono"/>
              </a:rPr>
              <a:t>2   2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6C5225-8DA4-434C-88FF-996AC74F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29100"/>
            <a:ext cx="266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虽然它不再等于 A，</a:t>
            </a:r>
          </a:p>
          <a:p xmlns:a="http://schemas.openxmlformats.org/drawingml/2006/main">
            <a:pPr algn="ctr">
              <a:defRPr sz="127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但在所有秩为 1 的矩阵中，A₁ 离 A 最近。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C5E79E-5576-4BCC-B581-D735F2CA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81650"/>
            <a:ext cx="1036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这就是截断 SVD 的核心思想：用更低的复杂度保留最关键的结构。</a:t>
            </a:r>
          </a:p>
        </p:txBody>
      </p:sp>
    </p:spTree>
    <p:extLst>
      <p:ext uri="{BB962C8B-B14F-4D97-AF65-F5344CB8AC3E}">
        <p14:creationId xmlns:p14="http://schemas.microsoft.com/office/powerpoint/2010/main" val="208123856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0C66AC-F7B9-4B0C-8E98-9BDAB053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707C3-C6EB-4C15-BF59-E6786C42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5180E-6F34-43DF-9C20-F99AA0A8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E9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6E9E"/>
                </a:solidFill>
                <a:latin typeface="Aptos"/>
                <a:ea typeface="Aptos"/>
                <a:cs typeface="Aptos"/>
              </a:rPr>
              <a:t>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15EB51-EE22-4DFA-9296-14E1132E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SVD 为什么值得掌握？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DAF0F4-CD4E-49C3-B7EA-7060B078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876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它把线性代数结构、数值稳定算法和实际工程应用连接到了一起。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CC3443-2964-4C09-B7DD-E370487C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5CD9B4-301E-4F04-8CF3-EF388D7E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Numerical Linear Algebra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D7F6B8-4F4D-4B11-BD4F-AE8B0088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D51C8E-CA07-4517-8E82-7E7AD3D8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4C0968-57F4-478E-9547-B3E6955C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38350"/>
            <a:ext cx="514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理论上：SVD 为任意矩阵提供统一、完备的结构分解。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13B575-C572-44DD-92DF-6553BBA2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55142A-9A09-44CA-BABC-97A57F91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514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几何上：它揭示了矩阵对空间的主方向拉伸与旋转规律。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592519-3E3A-4E84-9535-30251311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C47074-3016-4D61-86F7-701CB403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514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算法上：稳定 SVD 依赖正交变换与成熟迭代方法，避免病态放大。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C87B87-E616-456E-9657-4471D525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DEEA34-ED55-4518-B298-019B61D3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514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应用上：最小二乘、PCA、压缩、降噪、推荐系统都可从中受益。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E5B36D-DF74-4401-9D18-2E269FD2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52650"/>
            <a:ext cx="4248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AA0ACC-AF25-434E-9018-B55B4FD3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526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237C87-E874-4B85-BCFA-BB3512D5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24100"/>
            <a:ext cx="390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一句话记忆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2521AB-6364-45DE-93A8-E8BDB4A6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86050"/>
            <a:ext cx="386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SVD = 把复杂矩阵拆成最容易理解、最容易计算、也最容易压缩的形式。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7BD27E-5917-48A0-89AB-231ED40F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33850"/>
            <a:ext cx="4248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DD0F28-6FD6-4CCA-A0EE-61F43191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338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3BB0D6-0C6A-4EF1-BF07-EB370C80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05300"/>
            <a:ext cx="390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延伸方向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2B4AAA-B6B3-4D9F-9EBF-8AE28D6E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67250"/>
            <a:ext cx="3867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可继续学习：伪逆、条件数、Lanczos/随机 SVD、PCA 与低秩矩阵恢复。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796CBA-5927-47AC-83BD-FD41A1AD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76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B6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B64"/>
                </a:solidFill>
                <a:latin typeface="Aptos"/>
                <a:ea typeface="Aptos"/>
                <a:cs typeface="Aptos"/>
              </a:rPr>
              <a:t>谢谢聆听  |  Questions?</a:t>
            </a:r>
          </a:p>
        </p:txBody>
      </p:sp>
    </p:spTree>
    <p:extLst>
      <p:ext uri="{BB962C8B-B14F-4D97-AF65-F5344CB8AC3E}">
        <p14:creationId xmlns:p14="http://schemas.microsoft.com/office/powerpoint/2010/main" val="1118932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2026-05-29T03:33:33.0850000Z</dcterms:created>
  <dcterms:modified xsi:type="dcterms:W3CDTF">2026-05-29T03:33:33.0850000Z</dcterms:modified>
</coreProperties>
</file>