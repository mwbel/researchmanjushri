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4864"/>
            <a:ext cx="73152" cy="5088636"/>
          </a:xfrm>
          <a:prstGeom prst="rect">
            <a:avLst/>
          </a:prstGeom>
          <a:solidFill>
            <a:srgbClr val="5B8DEF"/>
          </a:solidFill>
          <a:ln w="12700">
            <a:solidFill>
              <a:srgbClr val="5B8DE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669280" y="-1097280"/>
            <a:ext cx="5029200" cy="5029200"/>
          </a:xfrm>
          <a:prstGeom prst="ellipse">
            <a:avLst/>
          </a:prstGeom>
          <a:solidFill>
            <a:srgbClr val="5B8DEF">
              <a:alpha val="12000"/>
            </a:srgbClr>
          </a:solidFill>
          <a:ln w="12700">
            <a:solidFill>
              <a:srgbClr val="5B8DEF">
                <a:alpha val="2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0" y="182880"/>
            <a:ext cx="3200400" cy="3200400"/>
          </a:xfrm>
          <a:prstGeom prst="ellipse">
            <a:avLst/>
          </a:prstGeom>
          <a:solidFill>
            <a:srgbClr val="00C9A7">
              <a:alpha val="10000"/>
            </a:srgbClr>
          </a:solidFill>
          <a:ln w="12700">
            <a:solidFill>
              <a:srgbClr val="00C9A7">
                <a:alpha val="1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914400"/>
            <a:ext cx="2011680" cy="347472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914400"/>
            <a:ext cx="201168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2A"/>
                </a:solidFill>
              </a:rPr>
              <a:t>技术分享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1463040"/>
            <a:ext cx="731520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从零构建</a:t>
            </a:r>
            <a:endParaRPr lang="en-US" sz="4800" dirty="0"/>
          </a:p>
        </p:txBody>
      </p:sp>
      <p:sp>
        <p:nvSpPr>
          <p:cNvPr id="9" name="Text 7"/>
          <p:cNvSpPr/>
          <p:nvPr/>
        </p:nvSpPr>
        <p:spPr>
          <a:xfrm>
            <a:off x="457200" y="2240280"/>
            <a:ext cx="777240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00C9A7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中文小型语言模型</a:t>
            </a:r>
            <a:endParaRPr lang="en-US" sz="4800" dirty="0"/>
          </a:p>
        </p:txBody>
      </p:sp>
      <p:sp>
        <p:nvSpPr>
          <p:cNvPr id="10" name="Text 8"/>
          <p:cNvSpPr/>
          <p:nvPr/>
        </p:nvSpPr>
        <p:spPr>
          <a:xfrm>
            <a:off x="457200" y="3200400"/>
            <a:ext cx="73152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8FA3B1"/>
                </a:solidFill>
              </a:rPr>
              <a:t>MoE 架构 · 注意力残差 · GQA · RoPE · 完整训练流程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0" y="4686300"/>
            <a:ext cx="9144000" cy="457200"/>
          </a:xfrm>
          <a:prstGeom prst="rect">
            <a:avLst/>
          </a:prstGeom>
          <a:solidFill>
            <a:srgbClr val="1B2B3F"/>
          </a:solidFill>
          <a:ln w="12700">
            <a:solidFill>
              <a:srgbClr val="1B2B3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4320" y="4686300"/>
            <a:ext cx="85953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FA3B1"/>
                </a:solidFill>
              </a:rPr>
              <a:t>模型参数：1.35亿   词表大小：6400   序列长度：512   训练数据：中文维基百科 138万条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926080" cy="51435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274320"/>
            <a:ext cx="25603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0C9A7"/>
                </a:solidFill>
              </a:rPr>
              <a:t>CONTENTS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82880" y="640080"/>
            <a:ext cx="256032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目录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182880" y="1371600"/>
            <a:ext cx="548640" cy="54864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2880" y="1554480"/>
            <a:ext cx="2468880" cy="1645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8FA3B1"/>
                </a:solidFill>
              </a:rPr>
              <a:t>本次分享将介绍</a:t>
            </a:r>
            <a:endParaRPr lang="en-US" sz="13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8FA3B1"/>
                </a:solidFill>
              </a:rPr>
              <a:t>如何从代码层面</a:t>
            </a:r>
            <a:endParaRPr lang="en-US" sz="13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8FA3B1"/>
                </a:solidFill>
              </a:rPr>
              <a:t>理解一个完整的</a:t>
            </a:r>
            <a:endParaRPr lang="en-US" sz="13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8FA3B1"/>
                </a:solidFill>
              </a:rPr>
              <a:t>小型LLM项目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00400" y="457200"/>
            <a:ext cx="265176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6E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0" y="457200"/>
            <a:ext cx="502920" cy="123444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0" y="457200"/>
            <a:ext cx="502920" cy="12344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01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794760" y="713232"/>
            <a:ext cx="19659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B3C"/>
                </a:solidFill>
              </a:rPr>
              <a:t>项目全貌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794760" y="1115568"/>
            <a:ext cx="19659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FA3B1"/>
                </a:solidFill>
              </a:rPr>
              <a:t>文件结构 · 训练三阶段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00400" y="1920240"/>
            <a:ext cx="265176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6E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00400" y="1920240"/>
            <a:ext cx="502920" cy="1234440"/>
          </a:xfrm>
          <a:prstGeom prst="rect">
            <a:avLst/>
          </a:prstGeom>
          <a:solidFill>
            <a:srgbClr val="5B8DEF"/>
          </a:solidFill>
          <a:ln w="12700">
            <a:solidFill>
              <a:srgbClr val="5B8DE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00400" y="1920240"/>
            <a:ext cx="502920" cy="12344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02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794760" y="2176272"/>
            <a:ext cx="19659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B3C"/>
                </a:solidFill>
              </a:rPr>
              <a:t>模型架构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794760" y="2578608"/>
            <a:ext cx="19659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FA3B1"/>
                </a:solidFill>
              </a:rPr>
              <a:t>Decoder-only · MoE · 参数量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200400" y="3383280"/>
            <a:ext cx="265176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6E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00400" y="3383280"/>
            <a:ext cx="502920" cy="123444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00400" y="3383280"/>
            <a:ext cx="502920" cy="12344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03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3794760" y="3639312"/>
            <a:ext cx="19659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B3C"/>
                </a:solidFill>
              </a:rPr>
              <a:t>核心技术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3794760" y="4041648"/>
            <a:ext cx="19659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FA3B1"/>
                </a:solidFill>
              </a:rPr>
              <a:t>RoPE · GQA · RMSNorm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126480" y="457200"/>
            <a:ext cx="265176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6E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126480" y="457200"/>
            <a:ext cx="502920" cy="1234440"/>
          </a:xfrm>
          <a:prstGeom prst="rect">
            <a:avLst/>
          </a:prstGeom>
          <a:solidFill>
            <a:srgbClr val="5B8DEF"/>
          </a:solidFill>
          <a:ln w="12700">
            <a:solidFill>
              <a:srgbClr val="5B8DE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126480" y="457200"/>
            <a:ext cx="502920" cy="12344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04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6720840" y="713232"/>
            <a:ext cx="19659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B3C"/>
                </a:solidFill>
              </a:rPr>
              <a:t>创新点：AttnRes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720840" y="1115568"/>
            <a:ext cx="19659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FA3B1"/>
                </a:solidFill>
              </a:rPr>
              <a:t>注意力残差替代普通残差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126480" y="1920240"/>
            <a:ext cx="265176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6E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126480" y="1920240"/>
            <a:ext cx="502920" cy="123444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126480" y="1920240"/>
            <a:ext cx="502920" cy="12344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05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6720840" y="2176272"/>
            <a:ext cx="19659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B3C"/>
                </a:solidFill>
              </a:rPr>
              <a:t>训练流程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6720840" y="2578608"/>
            <a:ext cx="19659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FA3B1"/>
                </a:solidFill>
              </a:rPr>
              <a:t>预训练 → SFT → 推理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126480" y="3383280"/>
            <a:ext cx="265176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6E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6126480" y="3383280"/>
            <a:ext cx="502920" cy="1234440"/>
          </a:xfrm>
          <a:prstGeom prst="rect">
            <a:avLst/>
          </a:prstGeom>
          <a:solidFill>
            <a:srgbClr val="5B8DEF"/>
          </a:solidFill>
          <a:ln w="12700">
            <a:solidFill>
              <a:srgbClr val="5B8DE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126480" y="3383280"/>
            <a:ext cx="502920" cy="12344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06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6720840" y="3639312"/>
            <a:ext cx="19659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B3C"/>
                </a:solidFill>
              </a:rPr>
              <a:t>工程实践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6720840" y="4041648"/>
            <a:ext cx="19659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FA3B1"/>
                </a:solidFill>
              </a:rPr>
              <a:t>显存优化 · 常见报错 · Tips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91440"/>
            <a:ext cx="73152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0C9A7"/>
                </a:solidFill>
              </a:rPr>
              <a:t>01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22960" y="91440"/>
            <a:ext cx="548640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项目全貌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400800" y="91440"/>
            <a:ext cx="246888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i="1" dirty="0">
                <a:solidFill>
                  <a:srgbClr val="8FA3B1"/>
                </a:solidFill>
              </a:rPr>
              <a:t>Project Overview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74320" y="1188720"/>
            <a:ext cx="38404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B3C"/>
                </a:solidFill>
              </a:rPr>
              <a:t>文件结构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274320" y="1691640"/>
            <a:ext cx="39319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EE6E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1691640"/>
            <a:ext cx="54864" cy="475488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1728216"/>
            <a:ext cx="164592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B3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train.py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38912" y="1929384"/>
            <a:ext cx="35661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FA3B1"/>
                </a:solidFill>
              </a:rPr>
              <a:t>模型定义 + 预训练入口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74320" y="2258568"/>
            <a:ext cx="39319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EE6E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74320" y="2258568"/>
            <a:ext cx="54864" cy="475488"/>
          </a:xfrm>
          <a:prstGeom prst="rect">
            <a:avLst/>
          </a:prstGeom>
          <a:solidFill>
            <a:srgbClr val="5B8DEF"/>
          </a:solidFill>
          <a:ln w="12700">
            <a:solidFill>
              <a:srgbClr val="5B8DE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38912" y="2295144"/>
            <a:ext cx="164592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B3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dataset.py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38912" y="2496312"/>
            <a:ext cx="35661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FA3B1"/>
                </a:solidFill>
              </a:rPr>
              <a:t>三种数据集格式封装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74320" y="2825496"/>
            <a:ext cx="39319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EE6E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74320" y="2825496"/>
            <a:ext cx="54864" cy="475488"/>
          </a:xfrm>
          <a:prstGeom prst="rect">
            <a:avLst/>
          </a:prstGeom>
          <a:solidFill>
            <a:srgbClr val="5B8DEF"/>
          </a:solidFill>
          <a:ln w="12700">
            <a:solidFill>
              <a:srgbClr val="5B8DE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8912" y="2862072"/>
            <a:ext cx="164592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B3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sft_train.py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38912" y="3063240"/>
            <a:ext cx="35661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FA3B1"/>
                </a:solidFill>
              </a:rPr>
              <a:t>指令微调（SFT）脚本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74320" y="3392424"/>
            <a:ext cx="39319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EE6E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74320" y="3392424"/>
            <a:ext cx="54864" cy="475488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38912" y="3429000"/>
            <a:ext cx="164592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B3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test.py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38912" y="3630168"/>
            <a:ext cx="35661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FA3B1"/>
                </a:solidFill>
              </a:rPr>
              <a:t>推理测试对话脚本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74320" y="3959352"/>
            <a:ext cx="39319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EE6E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274320" y="3959352"/>
            <a:ext cx="54864" cy="475488"/>
          </a:xfrm>
          <a:prstGeom prst="rect">
            <a:avLst/>
          </a:prstGeom>
          <a:solidFill>
            <a:srgbClr val="8FA3B1"/>
          </a:solidFill>
          <a:ln w="12700">
            <a:solidFill>
              <a:srgbClr val="8FA3B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38912" y="3995928"/>
            <a:ext cx="164592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B3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tokenizer/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38912" y="4197096"/>
            <a:ext cx="35661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FA3B1"/>
                </a:solidFill>
              </a:rPr>
              <a:t>BPE分词器（词表6400）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572000" y="1188720"/>
            <a:ext cx="42976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B3C"/>
                </a:solidFill>
              </a:rPr>
              <a:t>训练三阶段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4572000" y="1691640"/>
            <a:ext cx="132588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6E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572000" y="1691640"/>
            <a:ext cx="1325880" cy="45720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0" y="1691640"/>
            <a:ext cx="13258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① 预训练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663440" y="2286000"/>
            <a:ext cx="1143000" cy="1371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100" dirty="0">
                <a:solidFill>
                  <a:srgbClr val="1A2B3C"/>
                </a:solidFill>
              </a:rPr>
              <a:t>海量中文文本</a:t>
            </a:r>
            <a:endParaRPr lang="en-US" sz="1100" dirty="0"/>
          </a:p>
          <a:p>
            <a:pPr marL="0" indent="0" algn="ctr">
              <a:lnSpc>
                <a:spcPct val="150000"/>
              </a:lnSpc>
              <a:buNone/>
            </a:pPr>
            <a:r>
              <a:rPr lang="en-US" sz="1100" dirty="0">
                <a:solidFill>
                  <a:srgbClr val="1A2B3C"/>
                </a:solidFill>
              </a:rPr>
              <a:t>学习语言规律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080760" y="1691640"/>
            <a:ext cx="132588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6E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6080760" y="1691640"/>
            <a:ext cx="1325880" cy="457200"/>
          </a:xfrm>
          <a:prstGeom prst="rect">
            <a:avLst/>
          </a:prstGeom>
          <a:solidFill>
            <a:srgbClr val="5B8DEF"/>
          </a:solidFill>
          <a:ln w="12700">
            <a:solidFill>
              <a:srgbClr val="5B8DE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080760" y="1691640"/>
            <a:ext cx="13258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② SFT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172200" y="2286000"/>
            <a:ext cx="1143000" cy="1371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100" dirty="0">
                <a:solidFill>
                  <a:srgbClr val="1A2B3C"/>
                </a:solidFill>
              </a:rPr>
              <a:t>指令问答对</a:t>
            </a:r>
            <a:endParaRPr lang="en-US" sz="1100" dirty="0"/>
          </a:p>
          <a:p>
            <a:pPr marL="0" indent="0" algn="ctr">
              <a:lnSpc>
                <a:spcPct val="150000"/>
              </a:lnSpc>
              <a:buNone/>
            </a:pPr>
            <a:r>
              <a:rPr lang="en-US" sz="1100" dirty="0">
                <a:solidFill>
                  <a:srgbClr val="1A2B3C"/>
                </a:solidFill>
              </a:rPr>
              <a:t>学会听指令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7589520" y="1691640"/>
            <a:ext cx="137160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6E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7589520" y="1691640"/>
            <a:ext cx="1371600" cy="457200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589520" y="1691640"/>
            <a:ext cx="1371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③ 推理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7680960" y="2286000"/>
            <a:ext cx="1188720" cy="1371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100" dirty="0">
                <a:solidFill>
                  <a:srgbClr val="1A2B3C"/>
                </a:solidFill>
              </a:rPr>
              <a:t>加载checkpoint</a:t>
            </a:r>
            <a:endParaRPr lang="en-US" sz="1100" dirty="0"/>
          </a:p>
          <a:p>
            <a:pPr marL="0" indent="0" algn="ctr">
              <a:lnSpc>
                <a:spcPct val="150000"/>
              </a:lnSpc>
              <a:buNone/>
            </a:pPr>
            <a:r>
              <a:rPr lang="en-US" sz="1100" dirty="0">
                <a:solidFill>
                  <a:srgbClr val="1A2B3C"/>
                </a:solidFill>
              </a:rPr>
              <a:t>generate()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5971032" y="2834640"/>
            <a:ext cx="109728" cy="0"/>
          </a:xfrm>
          <a:prstGeom prst="line">
            <a:avLst/>
          </a:prstGeom>
          <a:noFill/>
          <a:ln w="25400">
            <a:solidFill>
              <a:srgbClr val="5B8DEF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7479792" y="2834640"/>
            <a:ext cx="109728" cy="0"/>
          </a:xfrm>
          <a:prstGeom prst="line">
            <a:avLst/>
          </a:prstGeom>
          <a:noFill/>
          <a:ln w="25400">
            <a:solidFill>
              <a:srgbClr val="5B8DEF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74320" y="4663440"/>
            <a:ext cx="8595360" cy="4800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FA3B1"/>
                </a:solidFill>
              </a:rPr>
              <a:t>核心文件 train.py 包含所有模型类定义，sft_train.py 和 test.py 复用其中的 LLM 和 Config 类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B3F"/>
          </a:solidFill>
          <a:ln w="12700">
            <a:solidFill>
              <a:srgbClr val="1B2B3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91440"/>
            <a:ext cx="73152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0C9A7"/>
                </a:solidFill>
              </a:rPr>
              <a:t>02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22960" y="91440"/>
            <a:ext cx="457200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模型架构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943600" y="91440"/>
            <a:ext cx="292608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i="1" dirty="0">
                <a:solidFill>
                  <a:srgbClr val="8FA3B1"/>
                </a:solidFill>
              </a:rPr>
              <a:t>Model Architecture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560320" y="1143000"/>
            <a:ext cx="4023360" cy="457200"/>
          </a:xfrm>
          <a:prstGeom prst="rect">
            <a:avLst/>
          </a:prstGeom>
          <a:solidFill>
            <a:srgbClr val="00C9A7">
              <a:alpha val="85000"/>
            </a:srgbClr>
          </a:solidFill>
          <a:ln w="19050">
            <a:solidFill>
              <a:srgbClr val="00C9A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560320" y="1143000"/>
            <a:ext cx="4023360" cy="2514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输入 Token IDs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560320" y="1380744"/>
            <a:ext cx="402336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ACCEE"/>
                </a:solidFill>
              </a:rPr>
              <a:t>[1, 423, 88, ...]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0" y="1600200"/>
            <a:ext cx="0" cy="73152"/>
          </a:xfrm>
          <a:prstGeom prst="line">
            <a:avLst/>
          </a:prstGeom>
          <a:noFill/>
          <a:ln w="19050">
            <a:solidFill>
              <a:srgbClr val="8FA3B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560320" y="1691640"/>
            <a:ext cx="4023360" cy="457200"/>
          </a:xfrm>
          <a:prstGeom prst="rect">
            <a:avLst/>
          </a:prstGeom>
          <a:solidFill>
            <a:srgbClr val="5B8DEF">
              <a:alpha val="85000"/>
            </a:srgbClr>
          </a:solidFill>
          <a:ln w="19050">
            <a:solidFill>
              <a:srgbClr val="5B8DE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60320" y="1691640"/>
            <a:ext cx="4023360" cy="2514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Token Embedding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560320" y="1929384"/>
            <a:ext cx="402336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ACCEE"/>
                </a:solidFill>
              </a:rPr>
              <a:t>6400 → 512 维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0" y="2148840"/>
            <a:ext cx="0" cy="256032"/>
          </a:xfrm>
          <a:prstGeom prst="line">
            <a:avLst/>
          </a:prstGeom>
          <a:noFill/>
          <a:ln w="19050">
            <a:solidFill>
              <a:srgbClr val="8FA3B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560320" y="2423160"/>
            <a:ext cx="4023360" cy="640080"/>
          </a:xfrm>
          <a:prstGeom prst="rect">
            <a:avLst/>
          </a:prstGeom>
          <a:solidFill>
            <a:srgbClr val="2D5FBF"/>
          </a:solidFill>
          <a:ln w="19050">
            <a:solidFill>
              <a:srgbClr val="2D5FB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560320" y="2423160"/>
            <a:ext cx="4023360" cy="3520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Decoder Layer × 8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560320" y="2756002"/>
            <a:ext cx="4023360" cy="30723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ACCEE"/>
                </a:solidFill>
              </a:rPr>
              <a:t>AttnRes + Attn + MoE/MLP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0" y="3063240"/>
            <a:ext cx="0" cy="73152"/>
          </a:xfrm>
          <a:prstGeom prst="line">
            <a:avLst/>
          </a:prstGeom>
          <a:noFill/>
          <a:ln w="19050">
            <a:solidFill>
              <a:srgbClr val="8FA3B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560320" y="3154680"/>
            <a:ext cx="4023360" cy="457200"/>
          </a:xfrm>
          <a:prstGeom prst="rect">
            <a:avLst/>
          </a:prstGeom>
          <a:solidFill>
            <a:srgbClr val="5B8DEF">
              <a:alpha val="85000"/>
            </a:srgbClr>
          </a:solidFill>
          <a:ln w="19050">
            <a:solidFill>
              <a:srgbClr val="5B8DE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560320" y="3154680"/>
            <a:ext cx="4023360" cy="2514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RMSNorm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560320" y="3392424"/>
            <a:ext cx="402336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ACCEE"/>
                </a:solidFill>
              </a:rPr>
              <a:t>最终归一化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0" y="3611880"/>
            <a:ext cx="0" cy="73152"/>
          </a:xfrm>
          <a:prstGeom prst="line">
            <a:avLst/>
          </a:prstGeom>
          <a:noFill/>
          <a:ln w="19050">
            <a:solidFill>
              <a:srgbClr val="8FA3B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560320" y="3703320"/>
            <a:ext cx="4023360" cy="457200"/>
          </a:xfrm>
          <a:prstGeom prst="rect">
            <a:avLst/>
          </a:prstGeom>
          <a:solidFill>
            <a:srgbClr val="00C9A7">
              <a:alpha val="85000"/>
            </a:srgbClr>
          </a:solidFill>
          <a:ln w="19050">
            <a:solidFill>
              <a:srgbClr val="00C9A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560320" y="3703320"/>
            <a:ext cx="4023360" cy="2514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Output Linear → Logits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2560320" y="3941064"/>
            <a:ext cx="402336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ACCEE"/>
                </a:solidFill>
              </a:rPr>
              <a:t>512 → 6400 维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949440" y="1143000"/>
            <a:ext cx="19202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C9A7"/>
                </a:solidFill>
              </a:rPr>
              <a:t>模型配置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949440" y="1554480"/>
            <a:ext cx="1965960" cy="438912"/>
          </a:xfrm>
          <a:prstGeom prst="rect">
            <a:avLst/>
          </a:prstGeom>
          <a:solidFill>
            <a:srgbClr val="1B2B3F"/>
          </a:solidFill>
          <a:ln w="12700">
            <a:solidFill>
              <a:srgbClr val="2A406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022592" y="1572768"/>
            <a:ext cx="914400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FA3B1"/>
                </a:solidFill>
              </a:rPr>
              <a:t>参数量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7909560" y="1572768"/>
            <a:ext cx="960120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0C9A7"/>
                </a:solidFill>
              </a:rPr>
              <a:t>1.35亿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949440" y="2103120"/>
            <a:ext cx="1965960" cy="438912"/>
          </a:xfrm>
          <a:prstGeom prst="rect">
            <a:avLst/>
          </a:prstGeom>
          <a:solidFill>
            <a:srgbClr val="1B2B3F"/>
          </a:solidFill>
          <a:ln w="12700">
            <a:solidFill>
              <a:srgbClr val="2A406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022592" y="2121408"/>
            <a:ext cx="914400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FA3B1"/>
                </a:solidFill>
              </a:rPr>
              <a:t>层数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7909560" y="2121408"/>
            <a:ext cx="960120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0C9A7"/>
                </a:solidFill>
              </a:rPr>
              <a:t>8层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949440" y="2651760"/>
            <a:ext cx="1965960" cy="438912"/>
          </a:xfrm>
          <a:prstGeom prst="rect">
            <a:avLst/>
          </a:prstGeom>
          <a:solidFill>
            <a:srgbClr val="1B2B3F"/>
          </a:solidFill>
          <a:ln w="12700">
            <a:solidFill>
              <a:srgbClr val="2A406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022592" y="2670048"/>
            <a:ext cx="914400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FA3B1"/>
                </a:solidFill>
              </a:rPr>
              <a:t>隐藏维度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7909560" y="2670048"/>
            <a:ext cx="960120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0C9A7"/>
                </a:solidFill>
              </a:rPr>
              <a:t>512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949440" y="3200400"/>
            <a:ext cx="1965960" cy="438912"/>
          </a:xfrm>
          <a:prstGeom prst="rect">
            <a:avLst/>
          </a:prstGeom>
          <a:solidFill>
            <a:srgbClr val="1B2B3F"/>
          </a:solidFill>
          <a:ln w="12700">
            <a:solidFill>
              <a:srgbClr val="2A406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022592" y="3218688"/>
            <a:ext cx="914400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FA3B1"/>
                </a:solidFill>
              </a:rPr>
              <a:t>注意力头数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7909560" y="3218688"/>
            <a:ext cx="960120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0C9A7"/>
                </a:solidFill>
              </a:rPr>
              <a:t>16Q / 8KV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6949440" y="3749040"/>
            <a:ext cx="1965960" cy="438912"/>
          </a:xfrm>
          <a:prstGeom prst="rect">
            <a:avLst/>
          </a:prstGeom>
          <a:solidFill>
            <a:srgbClr val="1B2B3F"/>
          </a:solidFill>
          <a:ln w="12700">
            <a:solidFill>
              <a:srgbClr val="2A406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022592" y="3767328"/>
            <a:ext cx="914400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FA3B1"/>
                </a:solidFill>
              </a:rPr>
              <a:t>专家数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7909560" y="3767328"/>
            <a:ext cx="960120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0C9A7"/>
                </a:solidFill>
              </a:rPr>
              <a:t>4个（每次2个）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6949440" y="4297680"/>
            <a:ext cx="1965960" cy="438912"/>
          </a:xfrm>
          <a:prstGeom prst="rect">
            <a:avLst/>
          </a:prstGeom>
          <a:solidFill>
            <a:srgbClr val="1B2B3F"/>
          </a:solidFill>
          <a:ln w="12700">
            <a:solidFill>
              <a:srgbClr val="2A406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022592" y="4315968"/>
            <a:ext cx="914400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FA3B1"/>
                </a:solidFill>
              </a:rPr>
              <a:t>最大序列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7909560" y="4315968"/>
            <a:ext cx="960120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0C9A7"/>
                </a:solidFill>
              </a:rPr>
              <a:t>512 tokens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182880" y="1828800"/>
            <a:ext cx="210312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FFFFFF"/>
                </a:solidFill>
              </a:rPr>
              <a:t>Decoder-only</a:t>
            </a:r>
            <a:endParaRPr lang="en-US" sz="1200" dirty="0"/>
          </a:p>
          <a:p>
            <a:pPr marL="0" indent="0" algn="ctr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FFFFFF"/>
                </a:solidFill>
              </a:rPr>
              <a:t>自回归架构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182880" y="2926080"/>
            <a:ext cx="210312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100" dirty="0">
                <a:solidFill>
                  <a:srgbClr val="8FA3B1"/>
                </a:solidFill>
              </a:rPr>
              <a:t>与 GPT / LLaMA</a:t>
            </a:r>
            <a:endParaRPr lang="en-US" sz="1100" dirty="0"/>
          </a:p>
          <a:p>
            <a:pPr marL="0" indent="0" algn="ctr">
              <a:lnSpc>
                <a:spcPct val="150000"/>
              </a:lnSpc>
              <a:buNone/>
            </a:pPr>
            <a:r>
              <a:rPr lang="en-US" sz="1100" dirty="0">
                <a:solidFill>
                  <a:srgbClr val="8FA3B1"/>
                </a:solidFill>
              </a:rPr>
              <a:t>同类结构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91440"/>
            <a:ext cx="73152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0C9A7"/>
                </a:solidFill>
              </a:rPr>
              <a:t>03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22960" y="91440"/>
            <a:ext cx="457200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核心技术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669280" y="91440"/>
            <a:ext cx="320040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i="1" dirty="0">
                <a:solidFill>
                  <a:srgbClr val="8FA3B1"/>
                </a:solidFill>
              </a:rPr>
              <a:t>Core Technologies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1188720"/>
            <a:ext cx="265176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6E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188720"/>
            <a:ext cx="2651760" cy="64008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225296"/>
            <a:ext cx="237744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RMSNorm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11480" y="1536192"/>
            <a:ext cx="23774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0EFEA"/>
                </a:solidFill>
              </a:rPr>
              <a:t>归一化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1993392"/>
            <a:ext cx="128016" cy="128016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8368" y="1938528"/>
            <a:ext cx="214884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B3C"/>
                </a:solidFill>
              </a:rPr>
              <a:t>只用方差，不算均值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2651760"/>
            <a:ext cx="128016" cy="128016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8368" y="2596896"/>
            <a:ext cx="214884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B3C"/>
                </a:solidFill>
              </a:rPr>
              <a:t>比 LayerNorm 快 ~15%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3310128"/>
            <a:ext cx="128016" cy="128016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" y="3255264"/>
            <a:ext cx="214884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B3C"/>
                </a:solidFill>
              </a:rPr>
              <a:t>每层 Attn 前 + MLP 前各一次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3968496"/>
            <a:ext cx="128016" cy="128016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8368" y="3913632"/>
            <a:ext cx="214884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B3C"/>
                </a:solidFill>
              </a:rPr>
              <a:t>LLaMA 系列标配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246120" y="1188720"/>
            <a:ext cx="265176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6E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246120" y="1188720"/>
            <a:ext cx="2651760" cy="640080"/>
          </a:xfrm>
          <a:prstGeom prst="rect">
            <a:avLst/>
          </a:prstGeom>
          <a:solidFill>
            <a:srgbClr val="5B8DEF"/>
          </a:solidFill>
          <a:ln w="12700">
            <a:solidFill>
              <a:srgbClr val="5B8DE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383280" y="1225296"/>
            <a:ext cx="237744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RoPE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3383280" y="1536192"/>
            <a:ext cx="23774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0EFEA"/>
                </a:solidFill>
              </a:rPr>
              <a:t>位置编码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429000" y="1993392"/>
            <a:ext cx="128016" cy="128016"/>
          </a:xfrm>
          <a:prstGeom prst="ellipse">
            <a:avLst/>
          </a:prstGeom>
          <a:solidFill>
            <a:srgbClr val="5B8DEF"/>
          </a:solidFill>
          <a:ln w="12700">
            <a:solidFill>
              <a:srgbClr val="5B8DE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30168" y="1938528"/>
            <a:ext cx="214884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B3C"/>
                </a:solidFill>
              </a:rPr>
              <a:t>对 Q、K 做旋转变换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429000" y="2651760"/>
            <a:ext cx="128016" cy="128016"/>
          </a:xfrm>
          <a:prstGeom prst="ellipse">
            <a:avLst/>
          </a:prstGeom>
          <a:solidFill>
            <a:srgbClr val="5B8DEF"/>
          </a:solidFill>
          <a:ln w="12700">
            <a:solidFill>
              <a:srgbClr val="5B8DE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30168" y="2596896"/>
            <a:ext cx="214884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B3C"/>
                </a:solidFill>
              </a:rPr>
              <a:t>Q·Kᵀ 只感知相对距离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3429000" y="3310128"/>
            <a:ext cx="128016" cy="128016"/>
          </a:xfrm>
          <a:prstGeom prst="ellipse">
            <a:avLst/>
          </a:prstGeom>
          <a:solidFill>
            <a:srgbClr val="5B8DEF"/>
          </a:solidFill>
          <a:ln w="12700">
            <a:solidFill>
              <a:srgbClr val="5B8DE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30168" y="3255264"/>
            <a:ext cx="214884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B3C"/>
                </a:solidFill>
              </a:rPr>
              <a:t>不额外占用向量维度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3429000" y="3968496"/>
            <a:ext cx="128016" cy="128016"/>
          </a:xfrm>
          <a:prstGeom prst="ellipse">
            <a:avLst/>
          </a:prstGeom>
          <a:solidFill>
            <a:srgbClr val="5B8DEF"/>
          </a:solidFill>
          <a:ln w="12700">
            <a:solidFill>
              <a:srgbClr val="5B8DE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30168" y="3913632"/>
            <a:ext cx="214884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B3C"/>
                </a:solidFill>
              </a:rPr>
              <a:t>外推性强，支持更长序列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6217920" y="1188720"/>
            <a:ext cx="265176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6E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217920" y="1188720"/>
            <a:ext cx="2651760" cy="640080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355080" y="1225296"/>
            <a:ext cx="237744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GQA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6355080" y="1536192"/>
            <a:ext cx="23774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0EFEA"/>
                </a:solidFill>
              </a:rPr>
              <a:t>注意力优化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400800" y="1993392"/>
            <a:ext cx="128016" cy="128016"/>
          </a:xfrm>
          <a:prstGeom prst="ellipse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601968" y="1938528"/>
            <a:ext cx="214884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B3C"/>
                </a:solidFill>
              </a:rPr>
              <a:t>16个Q头 / 8个KV头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6400800" y="2651760"/>
            <a:ext cx="128016" cy="128016"/>
          </a:xfrm>
          <a:prstGeom prst="ellipse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601968" y="2596896"/>
            <a:ext cx="214884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B3C"/>
                </a:solidFill>
              </a:rPr>
              <a:t>每2个Q共享1组KV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6400800" y="3310128"/>
            <a:ext cx="128016" cy="128016"/>
          </a:xfrm>
          <a:prstGeom prst="ellipse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601968" y="3255264"/>
            <a:ext cx="214884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B3C"/>
                </a:solidFill>
              </a:rPr>
              <a:t>推理KV Cache减半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6400800" y="3968496"/>
            <a:ext cx="128016" cy="128016"/>
          </a:xfrm>
          <a:prstGeom prst="ellipse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601968" y="3913632"/>
            <a:ext cx="214884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B3C"/>
                </a:solidFill>
              </a:rPr>
              <a:t>生成速度显著提升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274320" y="4663440"/>
            <a:ext cx="8595360" cy="38404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74320" y="4663440"/>
            <a:ext cx="859536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FA3B1"/>
                </a:solidFill>
              </a:rPr>
              <a:t>以上三项技术均来自工业界最新 LLM 实践（LLaMA · Mistral · Qwen），组合使用使小模型效率最大化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B3F"/>
          </a:solidFill>
          <a:ln w="12700">
            <a:solidFill>
              <a:srgbClr val="1B2B3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91440"/>
            <a:ext cx="73152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0C9A7"/>
                </a:solidFill>
              </a:rPr>
              <a:t>04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22960" y="91440"/>
            <a:ext cx="548640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创新点：AttnRes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675120" y="91440"/>
            <a:ext cx="219456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i="1" dirty="0">
                <a:solidFill>
                  <a:srgbClr val="8FA3B1"/>
                </a:solidFill>
              </a:rPr>
              <a:t>注意力残差连接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1143000"/>
            <a:ext cx="3749040" cy="3657600"/>
          </a:xfrm>
          <a:prstGeom prst="rect">
            <a:avLst/>
          </a:prstGeom>
          <a:solidFill>
            <a:srgbClr val="1B2B3F"/>
          </a:solidFill>
          <a:ln w="12700">
            <a:solidFill>
              <a:srgbClr val="2A406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143000"/>
            <a:ext cx="37490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8FA3B1"/>
                </a:solidFill>
              </a:rPr>
              <a:t>普通残差连接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74320" y="1143000"/>
            <a:ext cx="3749040" cy="54864"/>
          </a:xfrm>
          <a:prstGeom prst="rect">
            <a:avLst/>
          </a:prstGeom>
          <a:solidFill>
            <a:srgbClr val="2A4060"/>
          </a:solidFill>
          <a:ln w="12700">
            <a:solidFill>
              <a:srgbClr val="2A406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14400" y="1783080"/>
            <a:ext cx="2468880" cy="457200"/>
          </a:xfrm>
          <a:prstGeom prst="rect">
            <a:avLst/>
          </a:prstGeom>
          <a:solidFill>
            <a:srgbClr val="1E3A5A"/>
          </a:solidFill>
          <a:ln w="12700">
            <a:solidFill>
              <a:srgbClr val="3A5A7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1783080"/>
            <a:ext cx="24688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FA3B1"/>
                </a:solidFill>
              </a:rPr>
              <a:t>当前层输出 hₙ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874520" y="2331720"/>
            <a:ext cx="5486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8FA3B1"/>
                </a:solidFill>
              </a:rPr>
              <a:t>+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914400" y="2788920"/>
            <a:ext cx="2468880" cy="457200"/>
          </a:xfrm>
          <a:prstGeom prst="rect">
            <a:avLst/>
          </a:prstGeom>
          <a:solidFill>
            <a:srgbClr val="1E3A5A"/>
          </a:solidFill>
          <a:ln w="12700">
            <a:solidFill>
              <a:srgbClr val="3A5A7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2788920"/>
            <a:ext cx="24688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FA3B1"/>
                </a:solidFill>
              </a:rPr>
              <a:t>上一层输出 hₙ₋₁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148840" y="3246120"/>
            <a:ext cx="0" cy="365760"/>
          </a:xfrm>
          <a:prstGeom prst="line">
            <a:avLst/>
          </a:prstGeom>
          <a:noFill/>
          <a:ln w="12700">
            <a:solidFill>
              <a:srgbClr val="8FA3B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14400" y="3611880"/>
            <a:ext cx="2468880" cy="457200"/>
          </a:xfrm>
          <a:prstGeom prst="rect">
            <a:avLst/>
          </a:prstGeom>
          <a:solidFill>
            <a:srgbClr val="1A2F48"/>
          </a:solidFill>
          <a:ln w="12700">
            <a:solidFill>
              <a:srgbClr val="8FA3B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3611880"/>
            <a:ext cx="24688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FA3B1"/>
                </a:solidFill>
              </a:rPr>
              <a:t>固定加权，不可学习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65760" y="4206240"/>
            <a:ext cx="356616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6B6B"/>
                </a:solidFill>
              </a:rPr>
              <a:t>缺点：权重固定，每层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6B6B"/>
                </a:solidFill>
              </a:rPr>
              <a:t>只能参考上一层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0" y="1143000"/>
            <a:ext cx="4297680" cy="3657600"/>
          </a:xfrm>
          <a:prstGeom prst="rect">
            <a:avLst/>
          </a:prstGeom>
          <a:solidFill>
            <a:srgbClr val="1B2B3F"/>
          </a:solidFill>
          <a:ln w="19050">
            <a:solidFill>
              <a:srgbClr val="00C9A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0" y="1143000"/>
            <a:ext cx="42976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C9A7"/>
                </a:solidFill>
              </a:rPr>
              <a:t>AttnRes（本项目）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572000" y="1143000"/>
            <a:ext cx="4297680" cy="54864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754880" y="1783080"/>
            <a:ext cx="685800" cy="457200"/>
          </a:xfrm>
          <a:prstGeom prst="rect">
            <a:avLst/>
          </a:prstGeom>
          <a:solidFill>
            <a:srgbClr val="1E3A5A"/>
          </a:solidFill>
          <a:ln w="12700">
            <a:solidFill>
              <a:srgbClr val="3A5A7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54880" y="1783080"/>
            <a:ext cx="6858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FA3B1"/>
                </a:solidFill>
              </a:rPr>
              <a:t>h₀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623560" y="1783080"/>
            <a:ext cx="685800" cy="457200"/>
          </a:xfrm>
          <a:prstGeom prst="rect">
            <a:avLst/>
          </a:prstGeom>
          <a:solidFill>
            <a:srgbClr val="1E3A5A"/>
          </a:solidFill>
          <a:ln w="12700">
            <a:solidFill>
              <a:srgbClr val="3A5A7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623560" y="1783080"/>
            <a:ext cx="6858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FA3B1"/>
                </a:solidFill>
              </a:rPr>
              <a:t>h₁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492240" y="1783080"/>
            <a:ext cx="685800" cy="457200"/>
          </a:xfrm>
          <a:prstGeom prst="rect">
            <a:avLst/>
          </a:prstGeom>
          <a:solidFill>
            <a:srgbClr val="1E3A5A"/>
          </a:solidFill>
          <a:ln w="12700">
            <a:solidFill>
              <a:srgbClr val="3A5A7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92240" y="1783080"/>
            <a:ext cx="6858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FA3B1"/>
                </a:solidFill>
              </a:rPr>
              <a:t>h₂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7360920" y="1783080"/>
            <a:ext cx="685800" cy="457200"/>
          </a:xfrm>
          <a:prstGeom prst="rect">
            <a:avLst/>
          </a:prstGeom>
          <a:solidFill>
            <a:srgbClr val="1E3A5A"/>
          </a:solidFill>
          <a:ln w="12700">
            <a:solidFill>
              <a:srgbClr val="3A5A7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360920" y="1783080"/>
            <a:ext cx="6858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FA3B1"/>
                </a:solidFill>
              </a:rPr>
              <a:t>hₙ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663440" y="2331720"/>
            <a:ext cx="41148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FA3B1"/>
                </a:solidFill>
              </a:rPr>
              <a:t>所有历史层输出 stack 在一起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212080" y="2743200"/>
            <a:ext cx="2926080" cy="457200"/>
          </a:xfrm>
          <a:prstGeom prst="rect">
            <a:avLst/>
          </a:prstGeom>
          <a:solidFill>
            <a:srgbClr val="00C9A7">
              <a:alpha val="80000"/>
            </a:srgbClr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212080" y="2743200"/>
            <a:ext cx="29260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可学习 query 向量（每层独立）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675120" y="3200400"/>
            <a:ext cx="0" cy="320040"/>
          </a:xfrm>
          <a:prstGeom prst="line">
            <a:avLst/>
          </a:prstGeom>
          <a:noFill/>
          <a:ln w="19050">
            <a:solidFill>
              <a:srgbClr val="00C9A7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937760" y="3520440"/>
            <a:ext cx="3474720" cy="457200"/>
          </a:xfrm>
          <a:prstGeom prst="rect">
            <a:avLst/>
          </a:prstGeom>
          <a:solidFill>
            <a:srgbClr val="5B8DEF">
              <a:alpha val="80000"/>
            </a:srgbClr>
          </a:solidFill>
          <a:ln w="12700">
            <a:solidFill>
              <a:srgbClr val="5B8DE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937760" y="3520440"/>
            <a:ext cx="34747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Softmax 加权聚合所有历史层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663440" y="4206240"/>
            <a:ext cx="41148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C9A7"/>
                </a:solidFill>
              </a:rPr>
              <a:t>优势：自适应选择参考哪几层，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00C9A7"/>
                </a:solidFill>
              </a:rPr>
              <a:t>权重可学习，灵活性更高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91440"/>
            <a:ext cx="82296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F6B6B"/>
                </a:solidFill>
              </a:rPr>
              <a:t>02+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005840" y="91440"/>
            <a:ext cx="548640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MoE 混合专家机制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217920" y="91440"/>
            <a:ext cx="265176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i="1" dirty="0">
                <a:solidFill>
                  <a:srgbClr val="8FA3B1"/>
                </a:solidFill>
              </a:rPr>
              <a:t>Mixture of Experts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74320" y="1188720"/>
            <a:ext cx="41148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B3C"/>
                </a:solidFill>
              </a:rPr>
              <a:t>核心思想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274320" y="1600200"/>
            <a:ext cx="4114800" cy="1097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1A2B3C"/>
                </a:solidFill>
              </a:rPr>
              <a:t>不是所有层都用同一个 MLP，奇数层改用 4 个独立「专家」网络。每个 token 经过门控（Gating）网络选出最适合的 2 个专家处理，其余 2 个不激活。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74320" y="2880360"/>
            <a:ext cx="132588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6E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4320" y="2880360"/>
            <a:ext cx="1325880" cy="41148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" y="2880360"/>
            <a:ext cx="13258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参数多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20040" y="3383280"/>
            <a:ext cx="123444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000" dirty="0">
                <a:solidFill>
                  <a:srgbClr val="1A2B3C"/>
                </a:solidFill>
              </a:rPr>
              <a:t>4个专家 × MLP 参数</a:t>
            </a:r>
            <a:endParaRPr lang="en-US" sz="1000" dirty="0"/>
          </a:p>
          <a:p>
            <a:pPr marL="0" indent="0" algn="ctr">
              <a:lnSpc>
                <a:spcPct val="140000"/>
              </a:lnSpc>
              <a:buNone/>
            </a:pPr>
            <a:r>
              <a:rPr lang="en-US" sz="1000" dirty="0">
                <a:solidFill>
                  <a:srgbClr val="1A2B3C"/>
                </a:solidFill>
              </a:rPr>
              <a:t>总参数量远大于单MLP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1737360" y="2880360"/>
            <a:ext cx="132588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6E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1737360" y="2880360"/>
            <a:ext cx="1325880" cy="411480"/>
          </a:xfrm>
          <a:prstGeom prst="rect">
            <a:avLst/>
          </a:prstGeom>
          <a:solidFill>
            <a:srgbClr val="5B8DEF"/>
          </a:solidFill>
          <a:ln w="12700">
            <a:solidFill>
              <a:srgbClr val="5B8DE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737360" y="2880360"/>
            <a:ext cx="13258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计算省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783080" y="3383280"/>
            <a:ext cx="123444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000" dirty="0">
                <a:solidFill>
                  <a:srgbClr val="1A2B3C"/>
                </a:solidFill>
              </a:rPr>
              <a:t>每次只激活 2/4 专家</a:t>
            </a:r>
            <a:endParaRPr lang="en-US" sz="1000" dirty="0"/>
          </a:p>
          <a:p>
            <a:pPr marL="0" indent="0" algn="ctr">
              <a:lnSpc>
                <a:spcPct val="140000"/>
              </a:lnSpc>
              <a:buNone/>
            </a:pPr>
            <a:r>
              <a:rPr lang="en-US" sz="1000" dirty="0">
                <a:solidFill>
                  <a:srgbClr val="1A2B3C"/>
                </a:solidFill>
              </a:rPr>
              <a:t>实际算力不变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200400" y="2880360"/>
            <a:ext cx="132588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6E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00400" y="2880360"/>
            <a:ext cx="1325880" cy="411480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00400" y="2880360"/>
            <a:ext cx="13258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专业化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246120" y="3383280"/>
            <a:ext cx="123444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000" dirty="0">
                <a:solidFill>
                  <a:srgbClr val="1A2B3C"/>
                </a:solidFill>
              </a:rPr>
              <a:t>不同专家处理不同类型</a:t>
            </a:r>
            <a:endParaRPr lang="en-US" sz="1000" dirty="0"/>
          </a:p>
          <a:p>
            <a:pPr marL="0" indent="0" algn="ctr">
              <a:lnSpc>
                <a:spcPct val="140000"/>
              </a:lnSpc>
              <a:buNone/>
            </a:pPr>
            <a:r>
              <a:rPr lang="en-US" sz="1000" dirty="0">
                <a:solidFill>
                  <a:srgbClr val="1A2B3C"/>
                </a:solidFill>
              </a:rPr>
              <a:t>token，分工更细致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74320" y="4663440"/>
            <a:ext cx="4114800" cy="384048"/>
          </a:xfrm>
          <a:prstGeom prst="rect">
            <a:avLst/>
          </a:prstGeom>
          <a:solidFill>
            <a:srgbClr val="FF6B6B">
              <a:alpha val="15000"/>
            </a:srgbClr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4663440"/>
            <a:ext cx="393192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6B6B"/>
                </a:solidFill>
              </a:rPr>
              <a:t>+ aux_loss 负载均衡损失：防止所有 token 都涌向同一个专家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754880" y="1188720"/>
            <a:ext cx="41148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B3C"/>
                </a:solidFill>
              </a:rPr>
              <a:t>层结构分布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4754880" y="1645920"/>
            <a:ext cx="640080" cy="347472"/>
          </a:xfrm>
          <a:prstGeom prst="rect">
            <a:avLst/>
          </a:prstGeom>
          <a:solidFill>
            <a:srgbClr val="0D1B2A"/>
          </a:solidFill>
          <a:ln w="12700">
            <a:solidFill>
              <a:srgbClr val="2A406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54880" y="1645920"/>
            <a:ext cx="64008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FA3B1"/>
                </a:solidFill>
              </a:rPr>
              <a:t>L0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486400" y="1645920"/>
            <a:ext cx="1828800" cy="347472"/>
          </a:xfrm>
          <a:prstGeom prst="rect">
            <a:avLst/>
          </a:prstGeom>
          <a:solidFill>
            <a:srgbClr val="00C9A7">
              <a:alpha val="50000"/>
            </a:srgbClr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486400" y="1645920"/>
            <a:ext cx="18288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2B3C"/>
                </a:solidFill>
              </a:rPr>
              <a:t>MLP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754880" y="2048256"/>
            <a:ext cx="640080" cy="347472"/>
          </a:xfrm>
          <a:prstGeom prst="rect">
            <a:avLst/>
          </a:prstGeom>
          <a:solidFill>
            <a:srgbClr val="0D1B2A"/>
          </a:solidFill>
          <a:ln w="12700">
            <a:solidFill>
              <a:srgbClr val="2A406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54880" y="2048256"/>
            <a:ext cx="64008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FA3B1"/>
                </a:solidFill>
              </a:rPr>
              <a:t>L1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486400" y="2048256"/>
            <a:ext cx="3200400" cy="347472"/>
          </a:xfrm>
          <a:prstGeom prst="rect">
            <a:avLst/>
          </a:prstGeom>
          <a:solidFill>
            <a:srgbClr val="5B8DEF">
              <a:alpha val="80000"/>
            </a:srgbClr>
          </a:solidFill>
          <a:ln w="12700">
            <a:solidFill>
              <a:srgbClr val="5B8DE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486400" y="2048256"/>
            <a:ext cx="32004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MoE（4专家，激活2个）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754880" y="2450592"/>
            <a:ext cx="640080" cy="347472"/>
          </a:xfrm>
          <a:prstGeom prst="rect">
            <a:avLst/>
          </a:prstGeom>
          <a:solidFill>
            <a:srgbClr val="0D1B2A"/>
          </a:solidFill>
          <a:ln w="12700">
            <a:solidFill>
              <a:srgbClr val="2A406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54880" y="2450592"/>
            <a:ext cx="64008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FA3B1"/>
                </a:solidFill>
              </a:rPr>
              <a:t>L2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5486400" y="2450592"/>
            <a:ext cx="1828800" cy="347472"/>
          </a:xfrm>
          <a:prstGeom prst="rect">
            <a:avLst/>
          </a:prstGeom>
          <a:solidFill>
            <a:srgbClr val="00C9A7">
              <a:alpha val="50000"/>
            </a:srgbClr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486400" y="2450592"/>
            <a:ext cx="18288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2B3C"/>
                </a:solidFill>
              </a:rPr>
              <a:t>MLP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754880" y="2852928"/>
            <a:ext cx="640080" cy="347472"/>
          </a:xfrm>
          <a:prstGeom prst="rect">
            <a:avLst/>
          </a:prstGeom>
          <a:solidFill>
            <a:srgbClr val="0D1B2A"/>
          </a:solidFill>
          <a:ln w="12700">
            <a:solidFill>
              <a:srgbClr val="2A406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754880" y="2852928"/>
            <a:ext cx="64008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FA3B1"/>
                </a:solidFill>
              </a:rPr>
              <a:t>L3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5486400" y="2852928"/>
            <a:ext cx="3200400" cy="347472"/>
          </a:xfrm>
          <a:prstGeom prst="rect">
            <a:avLst/>
          </a:prstGeom>
          <a:solidFill>
            <a:srgbClr val="5B8DEF">
              <a:alpha val="80000"/>
            </a:srgbClr>
          </a:solidFill>
          <a:ln w="12700">
            <a:solidFill>
              <a:srgbClr val="5B8DE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486400" y="2852928"/>
            <a:ext cx="32004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MoE（4专家，激活2个）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754880" y="3255264"/>
            <a:ext cx="640080" cy="347472"/>
          </a:xfrm>
          <a:prstGeom prst="rect">
            <a:avLst/>
          </a:prstGeom>
          <a:solidFill>
            <a:srgbClr val="0D1B2A"/>
          </a:solidFill>
          <a:ln w="12700">
            <a:solidFill>
              <a:srgbClr val="2A406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754880" y="3255264"/>
            <a:ext cx="64008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FA3B1"/>
                </a:solidFill>
              </a:rPr>
              <a:t>L4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5486400" y="3255264"/>
            <a:ext cx="1828800" cy="347472"/>
          </a:xfrm>
          <a:prstGeom prst="rect">
            <a:avLst/>
          </a:prstGeom>
          <a:solidFill>
            <a:srgbClr val="00C9A7">
              <a:alpha val="50000"/>
            </a:srgbClr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486400" y="3255264"/>
            <a:ext cx="18288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2B3C"/>
                </a:solidFill>
              </a:rPr>
              <a:t>MLP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4754880" y="3657600"/>
            <a:ext cx="640080" cy="347472"/>
          </a:xfrm>
          <a:prstGeom prst="rect">
            <a:avLst/>
          </a:prstGeom>
          <a:solidFill>
            <a:srgbClr val="0D1B2A"/>
          </a:solidFill>
          <a:ln w="12700">
            <a:solidFill>
              <a:srgbClr val="2A406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754880" y="3657600"/>
            <a:ext cx="64008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FA3B1"/>
                </a:solidFill>
              </a:rPr>
              <a:t>L5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5486400" y="3657600"/>
            <a:ext cx="3200400" cy="347472"/>
          </a:xfrm>
          <a:prstGeom prst="rect">
            <a:avLst/>
          </a:prstGeom>
          <a:solidFill>
            <a:srgbClr val="5B8DEF">
              <a:alpha val="80000"/>
            </a:srgbClr>
          </a:solidFill>
          <a:ln w="12700">
            <a:solidFill>
              <a:srgbClr val="5B8DEF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486400" y="3657600"/>
            <a:ext cx="32004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MoE（4专家，激活2个）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4754880" y="4059936"/>
            <a:ext cx="640080" cy="347472"/>
          </a:xfrm>
          <a:prstGeom prst="rect">
            <a:avLst/>
          </a:prstGeom>
          <a:solidFill>
            <a:srgbClr val="0D1B2A"/>
          </a:solidFill>
          <a:ln w="12700">
            <a:solidFill>
              <a:srgbClr val="2A406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754880" y="4059936"/>
            <a:ext cx="64008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FA3B1"/>
                </a:solidFill>
              </a:rPr>
              <a:t>L6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5486400" y="4059936"/>
            <a:ext cx="1828800" cy="347472"/>
          </a:xfrm>
          <a:prstGeom prst="rect">
            <a:avLst/>
          </a:prstGeom>
          <a:solidFill>
            <a:srgbClr val="00C9A7">
              <a:alpha val="50000"/>
            </a:srgbClr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486400" y="4059936"/>
            <a:ext cx="18288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2B3C"/>
                </a:solidFill>
              </a:rPr>
              <a:t>MLP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4754880" y="4462272"/>
            <a:ext cx="640080" cy="347472"/>
          </a:xfrm>
          <a:prstGeom prst="rect">
            <a:avLst/>
          </a:prstGeom>
          <a:solidFill>
            <a:srgbClr val="0D1B2A"/>
          </a:solidFill>
          <a:ln w="12700">
            <a:solidFill>
              <a:srgbClr val="2A406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754880" y="4462272"/>
            <a:ext cx="64008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FA3B1"/>
                </a:solidFill>
              </a:rPr>
              <a:t>L7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5486400" y="4462272"/>
            <a:ext cx="3200400" cy="347472"/>
          </a:xfrm>
          <a:prstGeom prst="rect">
            <a:avLst/>
          </a:prstGeom>
          <a:solidFill>
            <a:srgbClr val="5B8DEF">
              <a:alpha val="80000"/>
            </a:srgbClr>
          </a:solidFill>
          <a:ln w="12700">
            <a:solidFill>
              <a:srgbClr val="5B8DEF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486400" y="4462272"/>
            <a:ext cx="32004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MoE（4专家，激活2个）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B3F"/>
          </a:solidFill>
          <a:ln w="12700">
            <a:solidFill>
              <a:srgbClr val="1B2B3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91440"/>
            <a:ext cx="73152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0C9A7"/>
                </a:solidFill>
              </a:rPr>
              <a:t>05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22960" y="91440"/>
            <a:ext cx="457200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完整训练流程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029200" y="91440"/>
            <a:ext cx="384048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i="1" dirty="0">
                <a:solidFill>
                  <a:srgbClr val="8FA3B1"/>
                </a:solidFill>
              </a:rPr>
              <a:t>End-to-End Training Pipeline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28600" y="1143000"/>
            <a:ext cx="2743200" cy="3794760"/>
          </a:xfrm>
          <a:prstGeom prst="rect">
            <a:avLst/>
          </a:prstGeom>
          <a:solidFill>
            <a:srgbClr val="1B2B3F"/>
          </a:solidFill>
          <a:ln w="19050">
            <a:solidFill>
              <a:srgbClr val="00C9A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8600" y="1143000"/>
            <a:ext cx="2743200" cy="59436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143000"/>
            <a:ext cx="246888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  预训练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65760" y="1874520"/>
            <a:ext cx="24688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FA3B1"/>
                </a:solidFill>
              </a:rPr>
              <a:t>数据格式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0040" y="2148840"/>
            <a:ext cx="2560320" cy="438912"/>
          </a:xfrm>
          <a:prstGeom prst="rect">
            <a:avLst/>
          </a:prstGeom>
          <a:solidFill>
            <a:srgbClr val="111E2E"/>
          </a:solidFill>
          <a:ln w="12700">
            <a:solidFill>
              <a:srgbClr val="2A406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2148840"/>
            <a:ext cx="246888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C9A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{"text": "中文维基文章..."}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65760" y="2697480"/>
            <a:ext cx="109728" cy="109728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30352" y="2651760"/>
            <a:ext cx="233172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ACCEE"/>
                </a:solidFill>
              </a:rPr>
              <a:t>LLMDataset 按 512 切片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5760" y="3136392"/>
            <a:ext cx="109728" cy="109728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30352" y="3090672"/>
            <a:ext cx="233172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ACCEE"/>
                </a:solidFill>
              </a:rPr>
              <a:t>交叉熵 Loss 预测下一个 token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65760" y="3575304"/>
            <a:ext cx="109728" cy="109728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30352" y="3529584"/>
            <a:ext cx="233172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ACCEE"/>
                </a:solidFill>
              </a:rPr>
              <a:t>1.35亿参数从随机初始化学起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20040" y="4023360"/>
            <a:ext cx="2560320" cy="384048"/>
          </a:xfrm>
          <a:prstGeom prst="rect">
            <a:avLst/>
          </a:prstGeom>
          <a:solidFill>
            <a:srgbClr val="111E2E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93192" y="4023360"/>
            <a:ext cx="242316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C9A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$ python train.py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246120" y="1143000"/>
            <a:ext cx="2743200" cy="3794760"/>
          </a:xfrm>
          <a:prstGeom prst="rect">
            <a:avLst/>
          </a:prstGeom>
          <a:solidFill>
            <a:srgbClr val="1B2B3F"/>
          </a:solidFill>
          <a:ln w="19050">
            <a:solidFill>
              <a:srgbClr val="5B8DE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246120" y="1143000"/>
            <a:ext cx="2743200" cy="594360"/>
          </a:xfrm>
          <a:prstGeom prst="rect">
            <a:avLst/>
          </a:prstGeom>
          <a:solidFill>
            <a:srgbClr val="5B8DEF"/>
          </a:solidFill>
          <a:ln w="12700">
            <a:solidFill>
              <a:srgbClr val="5B8DE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383280" y="1143000"/>
            <a:ext cx="246888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2  指令微调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3383280" y="1874520"/>
            <a:ext cx="24688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FA3B1"/>
                </a:solidFill>
              </a:rPr>
              <a:t>数据格式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337560" y="2148840"/>
            <a:ext cx="2560320" cy="438912"/>
          </a:xfrm>
          <a:prstGeom prst="rect">
            <a:avLst/>
          </a:prstGeom>
          <a:solidFill>
            <a:srgbClr val="111E2E"/>
          </a:solidFill>
          <a:ln w="12700">
            <a:solidFill>
              <a:srgbClr val="2A406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383280" y="2148840"/>
            <a:ext cx="246888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C9A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{"instruction":...,"output":...}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383280" y="2697480"/>
            <a:ext cx="109728" cy="109728"/>
          </a:xfrm>
          <a:prstGeom prst="ellipse">
            <a:avLst/>
          </a:prstGeom>
          <a:solidFill>
            <a:srgbClr val="5B8DEF"/>
          </a:solidFill>
          <a:ln w="12700">
            <a:solidFill>
              <a:srgbClr val="5B8DE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547872" y="2651760"/>
            <a:ext cx="233172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ACCEE"/>
                </a:solidFill>
              </a:rPr>
              <a:t>SFTDataset 区分 prompt/answer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383280" y="3136392"/>
            <a:ext cx="109728" cy="109728"/>
          </a:xfrm>
          <a:prstGeom prst="ellipse">
            <a:avLst/>
          </a:prstGeom>
          <a:solidFill>
            <a:srgbClr val="5B8DEF"/>
          </a:solidFill>
          <a:ln w="12700">
            <a:solidFill>
              <a:srgbClr val="5B8DE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547872" y="3090672"/>
            <a:ext cx="233172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ACCEE"/>
                </a:solidFill>
              </a:rPr>
              <a:t>只对 answer 部分计算 Loss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383280" y="3575304"/>
            <a:ext cx="109728" cy="109728"/>
          </a:xfrm>
          <a:prstGeom prst="ellipse">
            <a:avLst/>
          </a:prstGeom>
          <a:solidFill>
            <a:srgbClr val="5B8DEF"/>
          </a:solidFill>
          <a:ln w="12700">
            <a:solidFill>
              <a:srgbClr val="5B8DE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547872" y="3529584"/>
            <a:ext cx="233172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ACCEE"/>
                </a:solidFill>
              </a:rPr>
              <a:t>加载预训练 checkpoint 继续训练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337560" y="4023360"/>
            <a:ext cx="2560320" cy="384048"/>
          </a:xfrm>
          <a:prstGeom prst="rect">
            <a:avLst/>
          </a:prstGeom>
          <a:solidFill>
            <a:srgbClr val="111E2E"/>
          </a:solidFill>
          <a:ln w="12700">
            <a:solidFill>
              <a:srgbClr val="5B8DE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410712" y="4023360"/>
            <a:ext cx="242316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8DE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$ python sft_train.py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263640" y="1143000"/>
            <a:ext cx="2743200" cy="3794760"/>
          </a:xfrm>
          <a:prstGeom prst="rect">
            <a:avLst/>
          </a:prstGeom>
          <a:solidFill>
            <a:srgbClr val="1B2B3F"/>
          </a:solidFill>
          <a:ln w="19050">
            <a:solidFill>
              <a:srgbClr val="FF6B6B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263640" y="1143000"/>
            <a:ext cx="2743200" cy="594360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400800" y="1143000"/>
            <a:ext cx="246888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3  推理生成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6400800" y="1874520"/>
            <a:ext cx="24688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FA3B1"/>
                </a:solidFill>
              </a:rPr>
              <a:t>对话模板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6355080" y="2148840"/>
            <a:ext cx="2560320" cy="438912"/>
          </a:xfrm>
          <a:prstGeom prst="rect">
            <a:avLst/>
          </a:prstGeom>
          <a:solidFill>
            <a:srgbClr val="111E2E"/>
          </a:solidFill>
          <a:ln w="12700">
            <a:solidFill>
              <a:srgbClr val="2A406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400800" y="2148840"/>
            <a:ext cx="246888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C9A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&lt;s&gt;user\n问题&lt;/s&gt;\n&lt;s&gt;assistant\n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6400800" y="2697480"/>
            <a:ext cx="109728" cy="109728"/>
          </a:xfrm>
          <a:prstGeom prst="ellipse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565392" y="2651760"/>
            <a:ext cx="233172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ACCEE"/>
                </a:solidFill>
              </a:rPr>
              <a:t>apply_chat_template 格式化输入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6400800" y="3136392"/>
            <a:ext cx="109728" cy="109728"/>
          </a:xfrm>
          <a:prstGeom prst="ellipse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565392" y="3090672"/>
            <a:ext cx="233172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ACCEE"/>
                </a:solidFill>
              </a:rPr>
              <a:t>KV Cache 加速 token 生成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6400800" y="3575304"/>
            <a:ext cx="109728" cy="109728"/>
          </a:xfrm>
          <a:prstGeom prst="ellipse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565392" y="3529584"/>
            <a:ext cx="233172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ACCEE"/>
                </a:solidFill>
              </a:rPr>
              <a:t>temperature/top_k 控制多样性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6355080" y="4023360"/>
            <a:ext cx="2560320" cy="384048"/>
          </a:xfrm>
          <a:prstGeom prst="rect">
            <a:avLst/>
          </a:prstGeom>
          <a:solidFill>
            <a:srgbClr val="111E2E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428232" y="4023360"/>
            <a:ext cx="242316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6B6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$ python test.py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2971800" y="3035808"/>
            <a:ext cx="274320" cy="0"/>
          </a:xfrm>
          <a:prstGeom prst="line">
            <a:avLst/>
          </a:prstGeom>
          <a:noFill/>
          <a:ln w="25400">
            <a:solidFill>
              <a:srgbClr val="8FA3B1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5989320" y="3035808"/>
            <a:ext cx="274320" cy="0"/>
          </a:xfrm>
          <a:prstGeom prst="line">
            <a:avLst/>
          </a:prstGeom>
          <a:noFill/>
          <a:ln w="25400">
            <a:solidFill>
              <a:srgbClr val="8FA3B1"/>
            </a:solidFill>
            <a:prstDash val="solid"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91440"/>
            <a:ext cx="73152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0C9A7"/>
                </a:solidFill>
              </a:rPr>
              <a:t>06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22960" y="91440"/>
            <a:ext cx="502920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工程实践 Tips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217920" y="91440"/>
            <a:ext cx="265176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i="1" dirty="0">
                <a:solidFill>
                  <a:srgbClr val="8FA3B1"/>
                </a:solidFill>
              </a:rPr>
              <a:t>Engineering Tips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74320" y="1188720"/>
            <a:ext cx="41148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B3C"/>
                </a:solidFill>
              </a:rPr>
              <a:t>显存优化（4GB 显卡）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74320" y="1664208"/>
            <a:ext cx="41148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6E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1664208"/>
            <a:ext cx="54864" cy="50292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682496"/>
            <a:ext cx="21031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B3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batch_size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560320" y="1682496"/>
            <a:ext cx="17373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5B8DEF"/>
                </a:solidFill>
              </a:rPr>
              <a:t>32 → 2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74320" y="2258568"/>
            <a:ext cx="41148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6E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74320" y="2258568"/>
            <a:ext cx="54864" cy="50292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" y="2276856"/>
            <a:ext cx="21031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B3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gradient_accumulation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560320" y="2276856"/>
            <a:ext cx="17373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5B8DEF"/>
                </a:solidFill>
              </a:rPr>
              <a:t>8 → 32（等效不变）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74320" y="2852928"/>
            <a:ext cx="41148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6E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74320" y="2852928"/>
            <a:ext cx="54864" cy="50292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" y="2871216"/>
            <a:ext cx="21031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B3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bf16 → fp16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560320" y="2871216"/>
            <a:ext cx="17373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5B8DEF"/>
                </a:solidFill>
              </a:rPr>
              <a:t>3050 不支持 bf16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74320" y="3447288"/>
            <a:ext cx="41148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6E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74320" y="3447288"/>
            <a:ext cx="54864" cy="50292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11480" y="3465576"/>
            <a:ext cx="21031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B3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dataloader_num_workers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560320" y="3465576"/>
            <a:ext cx="17373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5B8DEF"/>
                </a:solidFill>
              </a:rPr>
              <a:t>8 → 0（Windows稳定）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754880" y="1188720"/>
            <a:ext cx="41148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B3C"/>
                </a:solidFill>
              </a:rPr>
              <a:t>常见报错速查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4754880" y="1664208"/>
            <a:ext cx="41148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EE6E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54880" y="1664208"/>
            <a:ext cx="54864" cy="658368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92040" y="1682496"/>
            <a:ext cx="38404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6B6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save_safetensors 参数错误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892040" y="1938528"/>
            <a:ext cx="38404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FA3B1"/>
                </a:solidFill>
              </a:rPr>
              <a:t>删除该参数，新版transformers不支持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754880" y="2414016"/>
            <a:ext cx="41148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EE6E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754880" y="2414016"/>
            <a:ext cx="54864" cy="658368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92040" y="2432304"/>
            <a:ext cx="38404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6B6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Trainer tokenizer 参数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892040" y="2688336"/>
            <a:ext cx="38404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FA3B1"/>
                </a:solidFill>
              </a:rPr>
              <a:t>改为 processing_class=tokenizer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754880" y="3163824"/>
            <a:ext cx="41148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EE6E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754880" y="3163824"/>
            <a:ext cx="54864" cy="658368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92040" y="3182112"/>
            <a:ext cx="38404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6B6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CUDA out of memory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892040" y="3438144"/>
            <a:ext cx="38404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FA3B1"/>
                </a:solidFill>
              </a:rPr>
              <a:t>减小 batch_size，启用 fp16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754880" y="3913632"/>
            <a:ext cx="41148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EE6E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4754880" y="3913632"/>
            <a:ext cx="54864" cy="658368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92040" y="3931920"/>
            <a:ext cx="38404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6B6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Dataset scripts 不支持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4892040" y="4187952"/>
            <a:ext cx="38404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FA3B1"/>
                </a:solidFill>
              </a:rPr>
              <a:t>用 wikimedia/wikipedia 新路径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371600" y="2286000"/>
            <a:ext cx="4572000" cy="4572000"/>
          </a:xfrm>
          <a:prstGeom prst="ellipse">
            <a:avLst/>
          </a:prstGeom>
          <a:solidFill>
            <a:srgbClr val="5B8DEF">
              <a:alpha val="8000"/>
            </a:srgbClr>
          </a:solidFill>
          <a:ln w="12700">
            <a:solidFill>
              <a:srgbClr val="5B8DEF">
                <a:alpha val="1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0" y="-914400"/>
            <a:ext cx="3657600" cy="3657600"/>
          </a:xfrm>
          <a:prstGeom prst="ellipse">
            <a:avLst/>
          </a:prstGeom>
          <a:solidFill>
            <a:srgbClr val="00C9A7">
              <a:alpha val="8000"/>
            </a:srgbClr>
          </a:solidFill>
          <a:ln w="12700">
            <a:solidFill>
              <a:srgbClr val="00C9A7">
                <a:alpha val="12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457200"/>
            <a:ext cx="82296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500" dirty="0">
                <a:solidFill>
                  <a:srgbClr val="00C9A7"/>
                </a:solidFill>
              </a:rPr>
              <a:t>SUMMARY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822960"/>
            <a:ext cx="82296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总结</a:t>
            </a:r>
            <a:endParaRPr lang="en-US" sz="4000" dirty="0"/>
          </a:p>
        </p:txBody>
      </p:sp>
      <p:sp>
        <p:nvSpPr>
          <p:cNvPr id="7" name="Shape 5"/>
          <p:cNvSpPr/>
          <p:nvPr/>
        </p:nvSpPr>
        <p:spPr>
          <a:xfrm>
            <a:off x="457200" y="1691640"/>
            <a:ext cx="2560320" cy="1188720"/>
          </a:xfrm>
          <a:prstGeom prst="rect">
            <a:avLst/>
          </a:prstGeom>
          <a:solidFill>
            <a:srgbClr val="1B2B3F"/>
          </a:solidFill>
          <a:ln w="12700">
            <a:solidFill>
              <a:srgbClr val="2A406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691640"/>
            <a:ext cx="731520" cy="1188720"/>
          </a:xfrm>
          <a:prstGeom prst="rect">
            <a:avLst/>
          </a:prstGeom>
          <a:solidFill>
            <a:srgbClr val="00C9A7">
              <a:alpha val="70000"/>
            </a:srgbClr>
          </a:solidFill>
          <a:ln w="12700">
            <a:solidFill>
              <a:srgbClr val="00C9A7">
                <a:alpha val="7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691640"/>
            <a:ext cx="731520" cy="11887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架构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261872" y="1828800"/>
            <a:ext cx="164592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AACCEE"/>
                </a:solidFill>
              </a:rPr>
              <a:t>Decoder-only + MoE</a:t>
            </a:r>
            <a:endParaRPr lang="en-US" sz="11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AACCEE"/>
                </a:solidFill>
              </a:rPr>
              <a:t>现代主流LLM设计范式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91840" y="1691640"/>
            <a:ext cx="2560320" cy="1188720"/>
          </a:xfrm>
          <a:prstGeom prst="rect">
            <a:avLst/>
          </a:prstGeom>
          <a:solidFill>
            <a:srgbClr val="1B2B3F"/>
          </a:solidFill>
          <a:ln w="12700">
            <a:solidFill>
              <a:srgbClr val="2A406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91840" y="1691640"/>
            <a:ext cx="731520" cy="1188720"/>
          </a:xfrm>
          <a:prstGeom prst="rect">
            <a:avLst/>
          </a:prstGeom>
          <a:solidFill>
            <a:srgbClr val="00C9A7">
              <a:alpha val="70000"/>
            </a:srgbClr>
          </a:solidFill>
          <a:ln w="12700">
            <a:solidFill>
              <a:srgbClr val="00C9A7">
                <a:alpha val="7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91840" y="1691640"/>
            <a:ext cx="731520" cy="11887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位置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096512" y="1828800"/>
            <a:ext cx="164592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AACCEE"/>
                </a:solidFill>
              </a:rPr>
              <a:t>RoPE + GQA</a:t>
            </a:r>
            <a:endParaRPr lang="en-US" sz="11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AACCEE"/>
                </a:solidFill>
              </a:rPr>
              <a:t>感知相对位置 · 显存减半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126480" y="1691640"/>
            <a:ext cx="2560320" cy="1188720"/>
          </a:xfrm>
          <a:prstGeom prst="rect">
            <a:avLst/>
          </a:prstGeom>
          <a:solidFill>
            <a:srgbClr val="1B2B3F"/>
          </a:solidFill>
          <a:ln w="12700">
            <a:solidFill>
              <a:srgbClr val="2A406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126480" y="1691640"/>
            <a:ext cx="731520" cy="1188720"/>
          </a:xfrm>
          <a:prstGeom prst="rect">
            <a:avLst/>
          </a:prstGeom>
          <a:solidFill>
            <a:srgbClr val="00C9A7">
              <a:alpha val="70000"/>
            </a:srgbClr>
          </a:solidFill>
          <a:ln w="12700">
            <a:solidFill>
              <a:srgbClr val="00C9A7">
                <a:alpha val="7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26480" y="1691640"/>
            <a:ext cx="731520" cy="11887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残差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931152" y="1828800"/>
            <a:ext cx="164592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AACCEE"/>
                </a:solidFill>
              </a:rPr>
              <a:t>AttnRes 注意力残差</a:t>
            </a:r>
            <a:endParaRPr lang="en-US" sz="11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AACCEE"/>
                </a:solidFill>
              </a:rPr>
              <a:t>可学习的历史层聚合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3063240"/>
            <a:ext cx="2560320" cy="1188720"/>
          </a:xfrm>
          <a:prstGeom prst="rect">
            <a:avLst/>
          </a:prstGeom>
          <a:solidFill>
            <a:srgbClr val="1B2B3F"/>
          </a:solidFill>
          <a:ln w="12700">
            <a:solidFill>
              <a:srgbClr val="2A406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57200" y="3063240"/>
            <a:ext cx="731520" cy="1188720"/>
          </a:xfrm>
          <a:prstGeom prst="rect">
            <a:avLst/>
          </a:prstGeom>
          <a:solidFill>
            <a:srgbClr val="5B8DEF">
              <a:alpha val="70000"/>
            </a:srgbClr>
          </a:solidFill>
          <a:ln w="12700">
            <a:solidFill>
              <a:srgbClr val="5B8DEF">
                <a:alpha val="7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3063240"/>
            <a:ext cx="731520" cy="11887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归一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261872" y="3200400"/>
            <a:ext cx="164592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AACCEE"/>
                </a:solidFill>
              </a:rPr>
              <a:t>RMSNorm</a:t>
            </a:r>
            <a:endParaRPr lang="en-US" sz="11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AACCEE"/>
                </a:solidFill>
              </a:rPr>
              <a:t>快速高效的层归一化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291840" y="3063240"/>
            <a:ext cx="2560320" cy="1188720"/>
          </a:xfrm>
          <a:prstGeom prst="rect">
            <a:avLst/>
          </a:prstGeom>
          <a:solidFill>
            <a:srgbClr val="1B2B3F"/>
          </a:solidFill>
          <a:ln w="12700">
            <a:solidFill>
              <a:srgbClr val="2A406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291840" y="3063240"/>
            <a:ext cx="731520" cy="1188720"/>
          </a:xfrm>
          <a:prstGeom prst="rect">
            <a:avLst/>
          </a:prstGeom>
          <a:solidFill>
            <a:srgbClr val="5B8DEF">
              <a:alpha val="70000"/>
            </a:srgbClr>
          </a:solidFill>
          <a:ln w="12700">
            <a:solidFill>
              <a:srgbClr val="5B8DEF">
                <a:alpha val="70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91840" y="3063240"/>
            <a:ext cx="731520" cy="11887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训练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096512" y="3200400"/>
            <a:ext cx="164592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AACCEE"/>
                </a:solidFill>
              </a:rPr>
              <a:t>三阶段完整流程</a:t>
            </a:r>
            <a:endParaRPr lang="en-US" sz="11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AACCEE"/>
                </a:solidFill>
              </a:rPr>
              <a:t>预训练→SFT→推理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126480" y="3063240"/>
            <a:ext cx="2560320" cy="1188720"/>
          </a:xfrm>
          <a:prstGeom prst="rect">
            <a:avLst/>
          </a:prstGeom>
          <a:solidFill>
            <a:srgbClr val="1B2B3F"/>
          </a:solidFill>
          <a:ln w="12700">
            <a:solidFill>
              <a:srgbClr val="2A406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126480" y="3063240"/>
            <a:ext cx="731520" cy="1188720"/>
          </a:xfrm>
          <a:prstGeom prst="rect">
            <a:avLst/>
          </a:prstGeom>
          <a:solidFill>
            <a:srgbClr val="5B8DEF">
              <a:alpha val="70000"/>
            </a:srgbClr>
          </a:solidFill>
          <a:ln w="12700">
            <a:solidFill>
              <a:srgbClr val="5B8DEF">
                <a:alpha val="70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126480" y="3063240"/>
            <a:ext cx="731520" cy="11887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实践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931152" y="3200400"/>
            <a:ext cx="164592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AACCEE"/>
                </a:solidFill>
              </a:rPr>
              <a:t>4GB 显卡也能跑</a:t>
            </a:r>
            <a:endParaRPr lang="en-US" sz="11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AACCEE"/>
                </a:solidFill>
              </a:rPr>
              <a:t>合理设置参数是关键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1B2A"/>
                </a:solidFill>
              </a:rPr>
              <a:t>Q &amp; A   欢迎提问与交流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2422</Words>
  <Application>WPS 演示</Application>
  <PresentationFormat>On-screen Show (16:9)</PresentationFormat>
  <Paragraphs>429</Paragraphs>
  <Slides>10</Slides>
  <Notes>10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4" baseType="lpstr">
      <vt:lpstr>Arial</vt:lpstr>
      <vt:lpstr>宋体</vt:lpstr>
      <vt:lpstr>Wingdings</vt:lpstr>
      <vt:lpstr>Arial Black</vt:lpstr>
      <vt:lpstr>Arial Black</vt:lpstr>
      <vt:lpstr>Arial Black</vt:lpstr>
      <vt:lpstr>Consolas</vt:lpstr>
      <vt:lpstr>Consolas</vt:lpstr>
      <vt:lpstr>Consolas</vt:lpstr>
      <vt:lpstr>Calibri</vt:lpstr>
      <vt:lpstr>微软雅黑</vt:lpstr>
      <vt:lpstr>Arial Unicode MS</vt:lpstr>
      <vt:lpstr>等线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从零构建中文小型语言模型</dc:title>
  <dc:creator>PptxGenJS</dc:creator>
  <dc:subject>PptxGenJS Presentation</dc:subject>
  <cp:lastModifiedBy>天宇丶</cp:lastModifiedBy>
  <cp:revision>2</cp:revision>
  <dcterms:created xsi:type="dcterms:W3CDTF">2026-04-10T04:47:00Z</dcterms:created>
  <dcterms:modified xsi:type="dcterms:W3CDTF">2026-04-10T05:13:26Z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886CD69FD5FE43E480B35018785E6AFE_12</vt:lpwstr>
  </property>
</Properties>
</file>