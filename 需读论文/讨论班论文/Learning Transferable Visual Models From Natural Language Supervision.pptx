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92" r:id="rId4"/>
    <p:sldId id="258" r:id="rId5"/>
    <p:sldId id="293" r:id="rId6"/>
    <p:sldId id="259" r:id="rId7"/>
    <p:sldId id="260" r:id="rId8"/>
    <p:sldId id="296" r:id="rId9"/>
    <p:sldId id="298" r:id="rId10"/>
    <p:sldId id="297" r:id="rId11"/>
    <p:sldId id="299" r:id="rId12"/>
    <p:sldId id="300" r:id="rId13"/>
    <p:sldId id="302" r:id="rId14"/>
    <p:sldId id="301" r:id="rId15"/>
    <p:sldId id="305" r:id="rId16"/>
    <p:sldId id="306" r:id="rId17"/>
    <p:sldId id="304" r:id="rId18"/>
    <p:sldId id="307" r:id="rId19"/>
  </p:sldIdLst>
  <p:sldSz cx="12192000" cy="6858000"/>
  <p:notesSz cx="6858000" cy="9144000"/>
  <p:custDataLst>
    <p:tags r:id="rId2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4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/>
              <a:t>Learning Transferable Visual Models From Natural Language Supervision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/>
              <a:t>Alec Radford</a:t>
            </a:r>
            <a:r>
              <a:rPr lang="en-US" altLang="zh-CN" baseline="30000"/>
              <a:t> *1</a:t>
            </a:r>
            <a:r>
              <a:rPr lang="en-US" altLang="zh-CN"/>
              <a:t> Jong Wook Kim *</a:t>
            </a:r>
            <a:r>
              <a:rPr lang="en-US" altLang="zh-CN" baseline="30000">
                <a:sym typeface="+mn-ea"/>
              </a:rPr>
              <a:t> 1</a:t>
            </a:r>
            <a:r>
              <a:rPr lang="en-US" altLang="zh-CN"/>
              <a:t> Chris Hallacy</a:t>
            </a:r>
            <a:r>
              <a:rPr lang="en-US" altLang="zh-CN" baseline="30000">
                <a:sym typeface="+mn-ea"/>
              </a:rPr>
              <a:t> 1</a:t>
            </a:r>
            <a:r>
              <a:rPr lang="en-US" altLang="zh-CN"/>
              <a:t> Aditya Ramesh</a:t>
            </a:r>
            <a:r>
              <a:rPr lang="en-US" altLang="zh-CN" baseline="30000">
                <a:sym typeface="+mn-ea"/>
              </a:rPr>
              <a:t> 1</a:t>
            </a:r>
            <a:r>
              <a:rPr lang="en-US" altLang="zh-CN"/>
              <a:t> Gabriel Goh</a:t>
            </a:r>
            <a:r>
              <a:rPr lang="en-US" altLang="zh-CN" baseline="30000">
                <a:sym typeface="+mn-ea"/>
              </a:rPr>
              <a:t> 1</a:t>
            </a:r>
            <a:r>
              <a:rPr lang="en-US" altLang="zh-CN"/>
              <a:t> Sandhini Agarwal 1 Girish Sastry 1 Amanda Askell</a:t>
            </a:r>
            <a:r>
              <a:rPr lang="en-US" altLang="zh-CN" baseline="30000">
                <a:sym typeface="+mn-ea"/>
              </a:rPr>
              <a:t> 1</a:t>
            </a:r>
            <a:r>
              <a:rPr lang="en-US" altLang="zh-CN"/>
              <a:t> Pamela Mishkin</a:t>
            </a:r>
            <a:r>
              <a:rPr lang="en-US" altLang="zh-CN" baseline="30000">
                <a:sym typeface="+mn-ea"/>
              </a:rPr>
              <a:t> 1</a:t>
            </a:r>
            <a:r>
              <a:rPr lang="en-US" altLang="zh-CN"/>
              <a:t> Jack Clark</a:t>
            </a:r>
            <a:r>
              <a:rPr lang="en-US" altLang="zh-CN" baseline="30000">
                <a:sym typeface="+mn-ea"/>
              </a:rPr>
              <a:t> 1</a:t>
            </a:r>
            <a:r>
              <a:rPr lang="en-US" altLang="zh-CN"/>
              <a:t> Gretchen Krueger</a:t>
            </a:r>
            <a:r>
              <a:rPr lang="en-US" altLang="zh-CN" baseline="30000">
                <a:sym typeface="+mn-ea"/>
              </a:rPr>
              <a:t> 1</a:t>
            </a:r>
            <a:r>
              <a:rPr lang="en-US" altLang="zh-CN"/>
              <a:t> Ilya Sutskever</a:t>
            </a:r>
            <a:r>
              <a:rPr lang="en-US" altLang="zh-CN" baseline="30000">
                <a:sym typeface="+mn-ea"/>
              </a:rPr>
              <a:t> 1</a:t>
            </a:r>
            <a:endParaRPr lang="en-US" altLang="zh-CN"/>
          </a:p>
        </p:txBody>
      </p:sp>
      <p:sp>
        <p:nvSpPr>
          <p:cNvPr id="4" name="副标题 2"/>
          <p:cNvSpPr>
            <a:spLocks noGrp="1"/>
          </p:cNvSpPr>
          <p:nvPr/>
        </p:nvSpPr>
        <p:spPr>
          <a:xfrm>
            <a:off x="1391285" y="5073968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从自然语言监督中学习可迁移的视觉模型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4810" y="248285"/>
            <a:ext cx="10515600" cy="1325563"/>
          </a:xfrm>
        </p:spPr>
        <p:txBody>
          <a:bodyPr/>
          <a:lstStyle/>
          <a:p>
            <a:r>
              <a:rPr lang="zh-CN" altLang="en-US"/>
              <a:t>本文主要工作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6410" y="1497965"/>
            <a:ext cx="11122660" cy="2452370"/>
          </a:xfrm>
        </p:spPr>
        <p:txBody>
          <a:bodyPr>
            <a:normAutofit/>
          </a:bodyPr>
          <a:lstStyle/>
          <a:p>
            <a:pPr marL="0" indent="0" fontAlgn="auto">
              <a:lnSpc>
                <a:spcPct val="150000"/>
              </a:lnSpc>
              <a:buNone/>
            </a:pPr>
            <a:r>
              <a:rPr lang="zh-CN" altLang="en-US" sz="2400"/>
              <a:t>本文提出了</a:t>
            </a:r>
            <a:r>
              <a:rPr lang="zh-CN" altLang="en-US" sz="2400">
                <a:solidFill>
                  <a:srgbClr val="FF0000"/>
                </a:solidFill>
              </a:rPr>
              <a:t>CLIP架构</a:t>
            </a:r>
            <a:r>
              <a:rPr lang="zh-CN" altLang="en-US" sz="2400"/>
              <a:t>，为多模态学习领域带来了重要进展。</a:t>
            </a:r>
          </a:p>
          <a:p>
            <a:pPr marL="0" indent="0" fontAlgn="auto">
              <a:lnSpc>
                <a:spcPct val="150000"/>
              </a:lnSpc>
              <a:buNone/>
            </a:pPr>
            <a:r>
              <a:rPr lang="zh-CN" altLang="en-US" sz="2400"/>
              <a:t>其核心是通过</a:t>
            </a:r>
            <a:r>
              <a:rPr lang="zh-CN" altLang="en-US" sz="2400">
                <a:solidFill>
                  <a:srgbClr val="FF0000"/>
                </a:solidFill>
              </a:rPr>
              <a:t>对比学习</a:t>
            </a:r>
            <a:r>
              <a:rPr lang="zh-CN" altLang="en-US" sz="2400"/>
              <a:t>的方式利用从互联网收集的大规模</a:t>
            </a:r>
            <a:r>
              <a:rPr lang="zh-CN" altLang="en-US" sz="2400">
                <a:solidFill>
                  <a:srgbClr val="FF0000"/>
                </a:solidFill>
              </a:rPr>
              <a:t>图像</a:t>
            </a:r>
            <a:r>
              <a:rPr lang="en-US" altLang="zh-CN" sz="2400">
                <a:solidFill>
                  <a:srgbClr val="FF0000"/>
                </a:solidFill>
              </a:rPr>
              <a:t>-</a:t>
            </a:r>
            <a:r>
              <a:rPr lang="zh-CN" altLang="en-US" sz="2400">
                <a:solidFill>
                  <a:srgbClr val="FF0000"/>
                </a:solidFill>
              </a:rPr>
              <a:t>文本对</a:t>
            </a:r>
            <a:r>
              <a:rPr lang="zh-CN" altLang="en-US" sz="2400"/>
              <a:t>进行预训练，学习图像和文本之间的关联，从而使模型具备强大的</a:t>
            </a:r>
            <a:r>
              <a:rPr lang="zh-CN" altLang="en-US" sz="2400">
                <a:solidFill>
                  <a:srgbClr val="FF0000"/>
                </a:solidFill>
              </a:rPr>
              <a:t>零样本迁移能力</a:t>
            </a:r>
            <a:r>
              <a:rPr lang="zh-CN" altLang="en-US" sz="2400"/>
              <a:t>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889000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zh-CN" altLang="en-US"/>
              <a:t>背景</a:t>
            </a:r>
            <a:br>
              <a:rPr lang="zh-CN" altLang="en-US"/>
            </a:br>
            <a:r>
              <a:rPr lang="zh-CN" altLang="en-US" sz="4000">
                <a:solidFill>
                  <a:srgbClr val="FF0000"/>
                </a:solidFill>
                <a:sym typeface="+mn-ea"/>
              </a:rPr>
              <a:t>传统计算机视觉模型的局限性</a:t>
            </a:r>
            <a:br>
              <a:rPr lang="zh-CN" altLang="en-US" sz="4000"/>
            </a:br>
            <a:r>
              <a:rPr lang="zh-CN" altLang="en-US" sz="4000">
                <a:solidFill>
                  <a:schemeClr val="tx1"/>
                </a:solidFill>
              </a:rPr>
              <a:t>现代预训练方法在</a:t>
            </a:r>
            <a:r>
              <a:rPr lang="en-US" altLang="zh-CN" sz="4000">
                <a:solidFill>
                  <a:schemeClr val="tx1"/>
                </a:solidFill>
              </a:rPr>
              <a:t>NLP</a:t>
            </a:r>
            <a:r>
              <a:rPr lang="zh-CN" altLang="en-US" sz="4000">
                <a:solidFill>
                  <a:schemeClr val="tx1"/>
                </a:solidFill>
              </a:rPr>
              <a:t>领域的突破</a:t>
            </a:r>
            <a:br>
              <a:rPr lang="zh-CN" altLang="en-US"/>
            </a:b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20090" y="2214880"/>
            <a:ext cx="10515600" cy="4351338"/>
          </a:xfrm>
        </p:spPr>
        <p:txBody>
          <a:bodyPr>
            <a:normAutofit fontScale="80000"/>
          </a:bodyPr>
          <a:lstStyle/>
          <a:p>
            <a:pPr marL="0" indent="0" fontAlgn="auto">
              <a:lnSpc>
                <a:spcPct val="150000"/>
              </a:lnSpc>
              <a:buNone/>
            </a:pPr>
            <a:r>
              <a:rPr lang="zh-CN" altLang="en-US"/>
              <a:t>对于计算机视觉领域目前最先进的模型，在</a:t>
            </a:r>
            <a:r>
              <a:rPr lang="en-US" altLang="zh-CN"/>
              <a:t> ImageNet </a:t>
            </a:r>
            <a:r>
              <a:rPr lang="zh-CN" altLang="en-US"/>
              <a:t>等人工标记数据集上预训练模型仍然是标准训练方法。</a:t>
            </a:r>
          </a:p>
          <a:p>
            <a:pPr marL="0" indent="0" fontAlgn="auto">
              <a:lnSpc>
                <a:spcPct val="150000"/>
              </a:lnSpc>
              <a:buNone/>
            </a:pPr>
            <a:r>
              <a:rPr lang="zh-CN" altLang="en-US"/>
              <a:t>这类模型的局限性如下：</a:t>
            </a:r>
          </a:p>
          <a:p>
            <a:pPr marL="0" indent="0" fontAlgn="auto">
              <a:lnSpc>
                <a:spcPct val="150000"/>
              </a:lnSpc>
              <a:buNone/>
            </a:pPr>
            <a:r>
              <a:rPr lang="en-US" altLang="zh-CN"/>
              <a:t>1.</a:t>
            </a:r>
            <a:r>
              <a:rPr lang="zh-CN" altLang="en-US">
                <a:solidFill>
                  <a:srgbClr val="FF0000"/>
                </a:solidFill>
              </a:rPr>
              <a:t>依赖固定标签</a:t>
            </a:r>
            <a:r>
              <a:rPr lang="zh-CN" altLang="en-US"/>
              <a:t>：传统视觉模型（如</a:t>
            </a:r>
            <a:r>
              <a:rPr lang="en-US" altLang="zh-CN"/>
              <a:t>ImageNet</a:t>
            </a:r>
            <a:r>
              <a:rPr lang="zh-CN" altLang="en-US"/>
              <a:t>、</a:t>
            </a:r>
            <a:r>
              <a:rPr lang="en-US" altLang="zh-CN"/>
              <a:t>COCO</a:t>
            </a:r>
            <a:r>
              <a:rPr lang="zh-CN" altLang="en-US"/>
              <a:t>）在新任务上泛化能力差。</a:t>
            </a:r>
          </a:p>
          <a:p>
            <a:pPr marL="0" indent="0" fontAlgn="auto">
              <a:lnSpc>
                <a:spcPct val="150000"/>
              </a:lnSpc>
              <a:buNone/>
            </a:pPr>
            <a:r>
              <a:rPr lang="en-US" altLang="zh-CN"/>
              <a:t>2.</a:t>
            </a:r>
            <a:r>
              <a:rPr lang="zh-CN" altLang="en-US">
                <a:solidFill>
                  <a:srgbClr val="FF0000"/>
                </a:solidFill>
              </a:rPr>
              <a:t>成本高昂</a:t>
            </a:r>
            <a:r>
              <a:rPr lang="zh-CN" altLang="en-US"/>
              <a:t>：每当出现新任务，就需要重新标注数据和训练模型，费时费力。</a:t>
            </a:r>
          </a:p>
          <a:p>
            <a:pPr marL="0" indent="0" fontAlgn="auto">
              <a:lnSpc>
                <a:spcPct val="150000"/>
              </a:lnSpc>
              <a:buNone/>
            </a:pPr>
            <a:r>
              <a:rPr lang="en-US" altLang="zh-CN"/>
              <a:t>3.</a:t>
            </a:r>
            <a:r>
              <a:rPr lang="zh-CN" altLang="en-US">
                <a:solidFill>
                  <a:srgbClr val="FF0000"/>
                </a:solidFill>
              </a:rPr>
              <a:t>灵活性差</a:t>
            </a:r>
            <a:r>
              <a:rPr lang="zh-CN" altLang="en-US"/>
              <a:t>：无法像人类一样，通过指令或描述来理解新的视觉概念。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20090" y="2214880"/>
            <a:ext cx="10515600" cy="4351338"/>
          </a:xfrm>
        </p:spPr>
        <p:txBody>
          <a:bodyPr>
            <a:normAutofit fontScale="70000"/>
          </a:bodyPr>
          <a:lstStyle/>
          <a:p>
            <a:pPr marL="0" algn="l">
              <a:lnSpc>
                <a:spcPct val="150000"/>
              </a:lnSpc>
              <a:buClrTx/>
              <a:buSzTx/>
              <a:buNone/>
            </a:pPr>
            <a:r>
              <a:rPr lang="zh-CN" altLang="en-US">
                <a:sym typeface="+mn-ea"/>
              </a:rPr>
              <a:t>区别于高度依赖人工标注的传统方法</a:t>
            </a:r>
            <a:r>
              <a:rPr lang="zh-CN" altLang="en-US"/>
              <a:t>，文中提到的现代预训练方法，是一种从海量原始文本中通过</a:t>
            </a:r>
            <a:r>
              <a:rPr lang="zh-CN" altLang="en-US">
                <a:solidFill>
                  <a:srgbClr val="FF0000"/>
                </a:solidFill>
              </a:rPr>
              <a:t>自监督学习</a:t>
            </a:r>
            <a:r>
              <a:rPr lang="zh-CN" altLang="en-US"/>
              <a:t>来获取通用语言知识的模型训练范式。</a:t>
            </a:r>
          </a:p>
          <a:p>
            <a:pPr marL="0" algn="l">
              <a:lnSpc>
                <a:spcPct val="150000"/>
              </a:lnSpc>
              <a:buClrTx/>
              <a:buSzTx/>
              <a:buNone/>
            </a:pPr>
            <a:r>
              <a:rPr lang="zh-CN" altLang="en-US"/>
              <a:t>以McCann (2018)、Radford (2019) 和 Raffel (2019) 的研究为代表，将各种NLP任务的输入和输出都标准化为文本格式。这一创新使得</a:t>
            </a:r>
            <a:r>
              <a:rPr lang="zh-CN" altLang="en-US">
                <a:solidFill>
                  <a:srgbClr val="FF0000"/>
                </a:solidFill>
              </a:rPr>
              <a:t>通用的、与任务无关的模型架构（如T5）能够通过“零样本迁移”技术，直接应用于下游数据集</a:t>
            </a:r>
            <a:r>
              <a:rPr lang="zh-CN" altLang="en-US"/>
              <a:t>，无需针对特定任务进行模型修改。</a:t>
            </a:r>
          </a:p>
          <a:p>
            <a:pPr marL="0" algn="l">
              <a:lnSpc>
                <a:spcPct val="150000"/>
              </a:lnSpc>
              <a:buClrTx/>
              <a:buSzTx/>
              <a:buNone/>
            </a:pPr>
            <a:r>
              <a:rPr lang="zh-CN" altLang="en-US"/>
              <a:t>以</a:t>
            </a:r>
            <a:r>
              <a:rPr lang="zh-CN" altLang="en-US">
                <a:solidFill>
                  <a:srgbClr val="FF0000"/>
                </a:solidFill>
              </a:rPr>
              <a:t>GPT-3</a:t>
            </a:r>
            <a:r>
              <a:rPr lang="zh-CN" altLang="en-US"/>
              <a:t> (Brown, 2020) 为旗舰代表，展示了这类模型最显著的突破：在众多任务上，它们无需或仅需极少的任务特定训练数据，其性能就能与为该任务专门定制开发的模型相媲美。这彻底改变了过去为每个任务单独收集数据和训练模型的传统范式。</a:t>
            </a:r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838200" y="889000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zh-CN" altLang="en-US"/>
              <a:t>背景</a:t>
            </a:r>
            <a:br>
              <a:rPr lang="zh-CN" altLang="en-US"/>
            </a:br>
            <a:r>
              <a:rPr lang="zh-CN" altLang="en-US" sz="4000">
                <a:solidFill>
                  <a:schemeClr val="tx1"/>
                </a:solidFill>
                <a:sym typeface="+mn-ea"/>
              </a:rPr>
              <a:t>传统计算机视觉模型的局限性</a:t>
            </a:r>
            <a:br>
              <a:rPr lang="zh-CN" altLang="en-US" sz="4000"/>
            </a:br>
            <a:r>
              <a:rPr lang="zh-CN" altLang="en-US" sz="4000">
                <a:solidFill>
                  <a:srgbClr val="FF0000"/>
                </a:solidFill>
              </a:rPr>
              <a:t>现代预训练方法在NLP领域的突破</a:t>
            </a:r>
            <a:br>
              <a:rPr lang="zh-CN" altLang="en-US"/>
            </a:br>
            <a:endParaRPr lang="zh-CN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999490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zh-CN" altLang="en-US"/>
              <a:t>问题</a:t>
            </a:r>
            <a:br>
              <a:rPr lang="zh-CN" altLang="en-US"/>
            </a:br>
            <a:r>
              <a:rPr lang="zh-CN" altLang="en-US"/>
              <a:t>可否将现代预训练方法用于计算机视觉领域，以解决上述问题？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23290" y="2926080"/>
            <a:ext cx="10515600" cy="2167890"/>
          </a:xfrm>
        </p:spPr>
        <p:txBody>
          <a:bodyPr/>
          <a:lstStyle/>
          <a:p>
            <a:pPr marL="0" algn="l">
              <a:lnSpc>
                <a:spcPct val="150000"/>
              </a:lnSpc>
              <a:buClrTx/>
              <a:buSzTx/>
              <a:buNone/>
            </a:pPr>
            <a:r>
              <a:rPr lang="zh-CN" altLang="en-US" sz="1800"/>
              <a:t>能否借鉴NLP的成功经验，用</a:t>
            </a:r>
            <a:r>
              <a:rPr lang="zh-CN" altLang="en-US" sz="1800">
                <a:solidFill>
                  <a:srgbClr val="FF0000"/>
                </a:solidFill>
              </a:rPr>
              <a:t>自然语言</a:t>
            </a:r>
            <a:r>
              <a:rPr lang="zh-CN" altLang="en-US" sz="1800"/>
              <a:t>作为监督信号，来训练一个通用的视觉模型？</a:t>
            </a:r>
          </a:p>
          <a:p>
            <a:pPr marL="0" algn="l">
              <a:lnSpc>
                <a:spcPct val="150000"/>
              </a:lnSpc>
              <a:buClrTx/>
              <a:buSzTx/>
              <a:buNone/>
            </a:pPr>
            <a:r>
              <a:rPr lang="zh-CN" altLang="en-US" sz="1800"/>
              <a:t>能否让视觉模型摆脱对固定标签的依赖，实现</a:t>
            </a:r>
            <a:r>
              <a:rPr lang="zh-CN" altLang="en-US" sz="1800">
                <a:solidFill>
                  <a:srgbClr val="FF0000"/>
                </a:solidFill>
              </a:rPr>
              <a:t>零样本</a:t>
            </a:r>
            <a:r>
              <a:rPr lang="zh-CN" altLang="en-US" sz="1800"/>
              <a:t>识别任意物体？</a:t>
            </a:r>
          </a:p>
          <a:p>
            <a:pPr marL="0" algn="l">
              <a:lnSpc>
                <a:spcPct val="150000"/>
              </a:lnSpc>
              <a:buClrTx/>
              <a:buSzTx/>
              <a:buNone/>
            </a:pPr>
            <a:r>
              <a:rPr lang="zh-CN" altLang="en-US" sz="1800"/>
              <a:t>能否创建一个</a:t>
            </a:r>
            <a:r>
              <a:rPr lang="zh-CN" altLang="en-US" sz="1800">
                <a:solidFill>
                  <a:srgbClr val="FF0000"/>
                </a:solidFill>
              </a:rPr>
              <a:t>统一的图文多模态模型</a:t>
            </a:r>
            <a:r>
              <a:rPr lang="zh-CN" altLang="en-US" sz="1800"/>
              <a:t>，而非为每个任务单独训练一个模型？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52425" y="112395"/>
            <a:ext cx="10515600" cy="1325563"/>
          </a:xfrm>
        </p:spPr>
        <p:txBody>
          <a:bodyPr/>
          <a:lstStyle/>
          <a:p>
            <a:r>
              <a:rPr lang="en-US" altLang="zh-CN"/>
              <a:t>CLIP</a:t>
            </a:r>
            <a:r>
              <a:rPr lang="zh-CN" altLang="en-US"/>
              <a:t>模型</a:t>
            </a:r>
          </a:p>
        </p:txBody>
      </p:sp>
      <p:pic>
        <p:nvPicPr>
          <p:cNvPr id="6" name="内容占位符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6360" y="2254250"/>
            <a:ext cx="12016740" cy="452310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52425" y="1255395"/>
            <a:ext cx="10222230" cy="6813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l" defTabSz="2667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>
                <a:solidFill>
                  <a:srgbClr val="0000FF"/>
                </a:solidFill>
                <a:latin typeface="Calibri" panose="020F0502020204030204"/>
                <a:ea typeface="宋体" panose="02010600030101010101" pitchFamily="2" charset="-122"/>
              </a:rPr>
              <a:t>对比学习：预测哪个文本作为一个整体与哪个图像配对，而不是该文本的确切单词</a:t>
            </a:r>
          </a:p>
          <a:p>
            <a:pPr marL="0" indent="0" algn="l" defTabSz="2667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>
                <a:solidFill>
                  <a:srgbClr val="0000FF"/>
                </a:solidFill>
                <a:latin typeface="Calibri" panose="020F0502020204030204"/>
                <a:ea typeface="宋体" panose="02010600030101010101" pitchFamily="2" charset="-122"/>
                <a:sym typeface="+mn-ea"/>
              </a:rPr>
              <a:t>双编码器设计：联合训练图像编码器和文本编码器</a:t>
            </a:r>
            <a:endParaRPr lang="zh-CN" altLang="en-US" sz="1600" b="1">
              <a:solidFill>
                <a:srgbClr val="0000FF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传统</a:t>
            </a:r>
            <a:r>
              <a:rPr lang="en-US" altLang="zh-CN"/>
              <a:t>CNN</a:t>
            </a:r>
            <a:r>
              <a:rPr lang="zh-CN" altLang="en-US"/>
              <a:t>模型（比如</a:t>
            </a:r>
            <a:r>
              <a:rPr lang="en-US" altLang="zh-CN"/>
              <a:t>ResNet</a:t>
            </a:r>
            <a:r>
              <a:rPr lang="zh-CN" altLang="en-US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08125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CN" altLang="en-US" sz="2400" b="1"/>
              <a:t>范式</a:t>
            </a:r>
            <a:r>
              <a:rPr lang="en-US" altLang="zh-CN" sz="2400" b="1"/>
              <a:t>: </a:t>
            </a:r>
            <a:r>
              <a:rPr lang="zh-CN" altLang="en-US" sz="2400" b="1"/>
              <a:t>固定标签预测</a:t>
            </a:r>
            <a:r>
              <a:rPr lang="en-US" altLang="zh-CN" sz="2400" b="1"/>
              <a:t> `P(y|x)`</a:t>
            </a:r>
          </a:p>
          <a:p>
            <a:pPr marL="0" indent="0">
              <a:buNone/>
            </a:pPr>
            <a:r>
              <a:rPr lang="en-US" altLang="zh-CN" sz="2400"/>
              <a:t>      </a:t>
            </a:r>
            <a:r>
              <a:rPr lang="zh-CN" altLang="en-US" sz="2400"/>
              <a:t>词汇表</a:t>
            </a:r>
            <a:r>
              <a:rPr lang="en-US" altLang="zh-CN" sz="2400"/>
              <a:t>: </a:t>
            </a:r>
            <a:r>
              <a:rPr lang="zh-CN" altLang="en-US" sz="2400"/>
              <a:t>固定词汇表</a:t>
            </a:r>
            <a:r>
              <a:rPr lang="en-US" altLang="zh-CN" sz="2400"/>
              <a:t> (e.g., ImageNet 1000</a:t>
            </a:r>
            <a:r>
              <a:rPr lang="zh-CN" altLang="en-US" sz="2400"/>
              <a:t>类</a:t>
            </a:r>
            <a:r>
              <a:rPr lang="en-US" altLang="zh-CN" sz="2400"/>
              <a:t>)</a:t>
            </a:r>
          </a:p>
          <a:p>
            <a:pPr marL="0" indent="0">
              <a:buNone/>
            </a:pPr>
            <a:r>
              <a:rPr lang="en-US" altLang="zh-CN" sz="2400"/>
              <a:t>      </a:t>
            </a:r>
            <a:r>
              <a:rPr lang="zh-CN" altLang="en-US" sz="2400"/>
              <a:t>泛化</a:t>
            </a:r>
            <a:r>
              <a:rPr lang="en-US" altLang="zh-CN" sz="2400"/>
              <a:t>: </a:t>
            </a:r>
            <a:r>
              <a:rPr lang="zh-CN" altLang="en-US" sz="2400"/>
              <a:t>迁移学习需</a:t>
            </a:r>
            <a:r>
              <a:rPr lang="en-US" altLang="zh-CN" sz="2400"/>
              <a:t>Fine-tune</a:t>
            </a:r>
            <a:r>
              <a:rPr lang="zh-CN" altLang="en-US" sz="2400"/>
              <a:t>，无零样本能力</a:t>
            </a:r>
          </a:p>
          <a:p>
            <a:pPr marL="0" indent="0">
              <a:buNone/>
            </a:pPr>
            <a:r>
              <a:rPr lang="en-US" altLang="zh-CN" sz="2400"/>
              <a:t>      </a:t>
            </a:r>
            <a:r>
              <a:rPr lang="zh-CN" altLang="en-US" sz="2400"/>
              <a:t>模态</a:t>
            </a:r>
            <a:r>
              <a:rPr lang="en-US" altLang="zh-CN" sz="2400"/>
              <a:t>: </a:t>
            </a:r>
            <a:r>
              <a:rPr lang="zh-CN" altLang="en-US" sz="2400"/>
              <a:t>单模态</a:t>
            </a:r>
            <a:r>
              <a:rPr lang="en-US" altLang="zh-CN" sz="2400"/>
              <a:t> (</a:t>
            </a:r>
            <a:r>
              <a:rPr lang="zh-CN" altLang="en-US" sz="2400"/>
              <a:t>仅图像</a:t>
            </a:r>
            <a:r>
              <a:rPr lang="en-US" altLang="zh-CN" sz="2400"/>
              <a:t>)</a:t>
            </a:r>
          </a:p>
          <a:p>
            <a:pPr marL="0" indent="0">
              <a:buNone/>
            </a:pPr>
            <a:r>
              <a:rPr lang="en-US" altLang="zh-CN" sz="2400"/>
              <a:t>      </a:t>
            </a:r>
            <a:r>
              <a:rPr lang="zh-CN" altLang="en-US" sz="2400"/>
              <a:t>成本</a:t>
            </a:r>
            <a:r>
              <a:rPr lang="en-US" altLang="zh-CN" sz="2400"/>
              <a:t>: </a:t>
            </a:r>
            <a:r>
              <a:rPr lang="zh-CN" altLang="en-US" sz="2400"/>
              <a:t>新任务</a:t>
            </a:r>
            <a:r>
              <a:rPr lang="en-US" altLang="zh-CN" sz="2400"/>
              <a:t>/</a:t>
            </a:r>
            <a:r>
              <a:rPr lang="zh-CN" altLang="en-US" sz="2400"/>
              <a:t>类别需要重新标注和训练，成本高</a:t>
            </a:r>
          </a:p>
          <a:p>
            <a:pPr marL="0" indent="0">
              <a:buNone/>
            </a:pPr>
            <a:endParaRPr lang="zh-CN" altLang="en-US" sz="2400"/>
          </a:p>
          <a:p>
            <a:pPr marL="0" indent="0">
              <a:buNone/>
            </a:pPr>
            <a:endParaRPr lang="zh-CN" altLang="en-US" sz="2400"/>
          </a:p>
          <a:p>
            <a:pPr marL="0" indent="0">
              <a:buNone/>
            </a:pPr>
            <a:endParaRPr lang="zh-CN" altLang="en-US" sz="2400"/>
          </a:p>
          <a:p>
            <a:pPr marL="0" indent="0">
              <a:buNone/>
            </a:pPr>
            <a:endParaRPr lang="zh-CN" altLang="en-US" sz="2400"/>
          </a:p>
          <a:p>
            <a:pPr marL="0" indent="0" algn="r">
              <a:buNone/>
            </a:pPr>
            <a:r>
              <a:rPr lang="en-US" altLang="zh-CN" sz="2000"/>
              <a:t>1. </a:t>
            </a:r>
            <a:r>
              <a:rPr lang="zh-CN" altLang="en-US" sz="2000"/>
              <a:t>无法识别</a:t>
            </a:r>
            <a:r>
              <a:rPr lang="en-US" altLang="zh-CN" sz="2000"/>
              <a:t>“</a:t>
            </a:r>
            <a:r>
              <a:rPr lang="zh-CN" altLang="en-US" sz="2000"/>
              <a:t>柯基</a:t>
            </a:r>
            <a:r>
              <a:rPr lang="en-US" altLang="zh-CN" sz="2000"/>
              <a:t>” (</a:t>
            </a:r>
            <a:r>
              <a:rPr lang="zh-CN" altLang="en-US" sz="2000"/>
              <a:t>如果不在</a:t>
            </a:r>
            <a:r>
              <a:rPr lang="en-US" altLang="zh-CN" sz="2000"/>
              <a:t>1000</a:t>
            </a:r>
            <a:r>
              <a:rPr lang="zh-CN" altLang="en-US" sz="2000"/>
              <a:t>类中</a:t>
            </a:r>
            <a:r>
              <a:rPr lang="en-US" altLang="zh-CN" sz="2000"/>
              <a:t>)</a:t>
            </a:r>
          </a:p>
          <a:p>
            <a:pPr marL="0" indent="0" algn="r">
              <a:buNone/>
            </a:pPr>
            <a:r>
              <a:rPr lang="en-US" altLang="zh-CN" sz="2000"/>
              <a:t>2. </a:t>
            </a:r>
            <a:r>
              <a:rPr lang="zh-CN" altLang="en-US" sz="2000"/>
              <a:t>无法理解</a:t>
            </a:r>
            <a:r>
              <a:rPr lang="en-US" altLang="zh-CN" sz="2000"/>
              <a:t>“</a:t>
            </a:r>
            <a:r>
              <a:rPr lang="zh-CN" altLang="en-US" sz="2000"/>
              <a:t>一只在草地上奔跑的狗</a:t>
            </a:r>
            <a:r>
              <a:rPr lang="en-US" altLang="zh-CN" sz="2000"/>
              <a:t>”</a:t>
            </a:r>
            <a:r>
              <a:rPr lang="zh-CN" altLang="en-US" sz="2000"/>
              <a:t>这种复杂描述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273300" y="3915410"/>
            <a:ext cx="6642100" cy="156845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 anchor="t">
            <a:spAutoFit/>
          </a:bodyPr>
          <a:lstStyle/>
          <a:p>
            <a:pPr marL="0" indent="0">
              <a:buNone/>
            </a:pPr>
            <a:r>
              <a:rPr lang="zh-CN" altLang="en-US" sz="2400">
                <a:sym typeface="+mn-ea"/>
              </a:rPr>
              <a:t>例：</a:t>
            </a:r>
            <a:endParaRPr lang="zh-CN" altLang="en-US" sz="2400"/>
          </a:p>
          <a:p>
            <a:pPr marL="0" indent="0">
              <a:buNone/>
            </a:pPr>
            <a:r>
              <a:rPr lang="en-US" altLang="zh-CN" sz="2400">
                <a:sym typeface="+mn-ea"/>
              </a:rPr>
              <a:t>   </a:t>
            </a:r>
            <a:r>
              <a:rPr lang="zh-CN" altLang="en-US" sz="2400">
                <a:sym typeface="+mn-ea"/>
              </a:rPr>
              <a:t>输入</a:t>
            </a:r>
            <a:r>
              <a:rPr lang="en-US" altLang="zh-CN" sz="2400">
                <a:sym typeface="+mn-ea"/>
              </a:rPr>
              <a:t>: </a:t>
            </a:r>
            <a:r>
              <a:rPr lang="zh-CN" altLang="en-US" sz="2400">
                <a:sym typeface="+mn-ea"/>
              </a:rPr>
              <a:t>一张狗的图片</a:t>
            </a:r>
            <a:endParaRPr lang="zh-CN" altLang="en-US" sz="2400"/>
          </a:p>
          <a:p>
            <a:pPr marL="0" indent="0">
              <a:buNone/>
            </a:pPr>
            <a:r>
              <a:rPr lang="en-US" altLang="zh-CN" sz="2400">
                <a:sym typeface="+mn-ea"/>
              </a:rPr>
              <a:t>   </a:t>
            </a:r>
            <a:r>
              <a:rPr lang="zh-CN" altLang="en-US" sz="2400">
                <a:sym typeface="+mn-ea"/>
              </a:rPr>
              <a:t>任务</a:t>
            </a:r>
            <a:r>
              <a:rPr lang="en-US" altLang="zh-CN" sz="2400">
                <a:sym typeface="+mn-ea"/>
              </a:rPr>
              <a:t>: </a:t>
            </a:r>
            <a:r>
              <a:rPr lang="zh-CN" altLang="en-US" sz="2400">
                <a:sym typeface="+mn-ea"/>
              </a:rPr>
              <a:t>从</a:t>
            </a:r>
            <a:r>
              <a:rPr lang="en-US" altLang="zh-CN" sz="2400">
                <a:sym typeface="+mn-ea"/>
              </a:rPr>
              <a:t>1000</a:t>
            </a:r>
            <a:r>
              <a:rPr lang="zh-CN" altLang="en-US" sz="2400">
                <a:sym typeface="+mn-ea"/>
              </a:rPr>
              <a:t>个预设类别中选一个最相关的</a:t>
            </a:r>
            <a:endParaRPr lang="zh-CN" altLang="en-US" sz="2400"/>
          </a:p>
          <a:p>
            <a:pPr marL="0" indent="0">
              <a:buNone/>
            </a:pPr>
            <a:r>
              <a:rPr lang="en-US" altLang="zh-CN" sz="2400">
                <a:sym typeface="+mn-ea"/>
              </a:rPr>
              <a:t>   </a:t>
            </a:r>
            <a:r>
              <a:rPr lang="zh-CN" altLang="en-US" sz="2400">
                <a:sym typeface="+mn-ea"/>
              </a:rPr>
              <a:t>输出</a:t>
            </a:r>
            <a:r>
              <a:rPr lang="en-US" altLang="zh-CN" sz="2400">
                <a:sym typeface="+mn-ea"/>
              </a:rPr>
              <a:t>: `P("</a:t>
            </a:r>
            <a:r>
              <a:rPr lang="zh-CN" altLang="en-US" sz="2400">
                <a:sym typeface="+mn-ea"/>
              </a:rPr>
              <a:t>金毛犬</a:t>
            </a:r>
            <a:r>
              <a:rPr lang="en-US" altLang="zh-CN" sz="2400">
                <a:sym typeface="+mn-ea"/>
              </a:rPr>
              <a:t>")=0.85`, `P("</a:t>
            </a:r>
            <a:r>
              <a:rPr lang="zh-CN" altLang="en-US" sz="2400">
                <a:sym typeface="+mn-ea"/>
              </a:rPr>
              <a:t>拉布拉多</a:t>
            </a:r>
            <a:r>
              <a:rPr lang="en-US" altLang="zh-CN" sz="2400">
                <a:sym typeface="+mn-ea"/>
              </a:rPr>
              <a:t>")=0.1`, ...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CLIP</a:t>
            </a:r>
            <a:r>
              <a:rPr lang="zh-CN" altLang="en-US">
                <a:sym typeface="+mn-ea"/>
              </a:rPr>
              <a:t>模型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08125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CN" altLang="en-US" sz="2400">
                <a:solidFill>
                  <a:srgbClr val="FF0000"/>
                </a:solidFill>
                <a:sym typeface="+mn-ea"/>
              </a:rPr>
              <a:t>不预测固定标签，而是学习图像和文本描述的匹配关系。</a:t>
            </a:r>
            <a:endParaRPr lang="zh-CN" altLang="en-US" sz="240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zh-CN" altLang="en-US" sz="2400" b="1">
                <a:sym typeface="+mn-ea"/>
              </a:rPr>
              <a:t>范式</a:t>
            </a:r>
            <a:r>
              <a:rPr lang="en-US" altLang="zh-CN" sz="2400" b="1">
                <a:sym typeface="+mn-ea"/>
              </a:rPr>
              <a:t>: </a:t>
            </a:r>
            <a:r>
              <a:rPr lang="zh-CN" altLang="en-US" sz="2400" b="1">
                <a:sym typeface="+mn-ea"/>
              </a:rPr>
              <a:t>图文匹配</a:t>
            </a:r>
            <a:r>
              <a:rPr lang="en-US" altLang="zh-CN" sz="2400" b="1">
                <a:sym typeface="+mn-ea"/>
              </a:rPr>
              <a:t> `Sim(image, text)`</a:t>
            </a:r>
            <a:endParaRPr lang="en-US" altLang="zh-CN" sz="2400" b="1"/>
          </a:p>
          <a:p>
            <a:pPr marL="0" indent="0">
              <a:buNone/>
            </a:pPr>
            <a:r>
              <a:rPr lang="en-US" altLang="zh-CN" sz="2400">
                <a:sym typeface="+mn-ea"/>
              </a:rPr>
              <a:t>      </a:t>
            </a:r>
            <a:r>
              <a:rPr lang="zh-CN" altLang="en-US" sz="2400">
                <a:sym typeface="+mn-ea"/>
              </a:rPr>
              <a:t>词汇表</a:t>
            </a:r>
            <a:r>
              <a:rPr lang="en-US" altLang="zh-CN" sz="2400">
                <a:sym typeface="+mn-ea"/>
              </a:rPr>
              <a:t>: </a:t>
            </a:r>
            <a:r>
              <a:rPr lang="zh-CN" altLang="en-US" sz="2400">
                <a:sym typeface="+mn-ea"/>
              </a:rPr>
              <a:t>开放，任意自然语言描述</a:t>
            </a:r>
            <a:endParaRPr lang="zh-CN" altLang="en-US" sz="2400"/>
          </a:p>
          <a:p>
            <a:pPr marL="0" indent="0">
              <a:buNone/>
            </a:pPr>
            <a:r>
              <a:rPr lang="en-US" altLang="zh-CN" sz="2400">
                <a:sym typeface="+mn-ea"/>
              </a:rPr>
              <a:t>      </a:t>
            </a:r>
            <a:r>
              <a:rPr lang="zh-CN" altLang="en-US" sz="2400">
                <a:sym typeface="+mn-ea"/>
              </a:rPr>
              <a:t>泛化</a:t>
            </a:r>
            <a:r>
              <a:rPr lang="en-US" altLang="zh-CN" sz="2400">
                <a:sym typeface="+mn-ea"/>
              </a:rPr>
              <a:t>: Zero-shot</a:t>
            </a:r>
            <a:r>
              <a:rPr lang="zh-CN" altLang="en-US" sz="2400">
                <a:sym typeface="+mn-ea"/>
              </a:rPr>
              <a:t>推理，无需</a:t>
            </a:r>
            <a:r>
              <a:rPr lang="en-US" altLang="zh-CN" sz="2400">
                <a:sym typeface="+mn-ea"/>
              </a:rPr>
              <a:t>Fine-tune</a:t>
            </a:r>
            <a:endParaRPr lang="en-US" altLang="zh-CN" sz="2400"/>
          </a:p>
          <a:p>
            <a:pPr marL="0" indent="0">
              <a:buNone/>
            </a:pPr>
            <a:r>
              <a:rPr lang="en-US" altLang="zh-CN" sz="2400">
                <a:sym typeface="+mn-ea"/>
              </a:rPr>
              <a:t>      </a:t>
            </a:r>
            <a:r>
              <a:rPr lang="zh-CN" altLang="en-US" sz="2400">
                <a:sym typeface="+mn-ea"/>
              </a:rPr>
              <a:t>模态</a:t>
            </a:r>
            <a:r>
              <a:rPr lang="en-US" altLang="zh-CN" sz="2400">
                <a:sym typeface="+mn-ea"/>
              </a:rPr>
              <a:t>: </a:t>
            </a:r>
            <a:r>
              <a:rPr lang="zh-CN" altLang="en-US" sz="2400">
                <a:sym typeface="+mn-ea"/>
              </a:rPr>
              <a:t>多模态</a:t>
            </a:r>
            <a:r>
              <a:rPr lang="en-US" altLang="zh-CN" sz="2400">
                <a:sym typeface="+mn-ea"/>
              </a:rPr>
              <a:t> (</a:t>
            </a:r>
            <a:r>
              <a:rPr lang="zh-CN" altLang="en-US" sz="2400">
                <a:sym typeface="+mn-ea"/>
              </a:rPr>
              <a:t>图文</a:t>
            </a:r>
            <a:r>
              <a:rPr lang="en-US" altLang="zh-CN" sz="2400">
                <a:sym typeface="+mn-ea"/>
              </a:rPr>
              <a:t>)</a:t>
            </a:r>
            <a:endParaRPr lang="en-US" altLang="zh-CN" sz="2400"/>
          </a:p>
          <a:p>
            <a:pPr marL="0" indent="0">
              <a:buNone/>
            </a:pPr>
            <a:r>
              <a:rPr lang="en-US" altLang="zh-CN" sz="2400">
                <a:sym typeface="+mn-ea"/>
              </a:rPr>
              <a:t>      </a:t>
            </a:r>
            <a:r>
              <a:rPr lang="zh-CN" altLang="en-US" sz="2400">
                <a:sym typeface="+mn-ea"/>
              </a:rPr>
              <a:t>成本</a:t>
            </a:r>
            <a:r>
              <a:rPr lang="en-US" altLang="zh-CN" sz="2400">
                <a:sym typeface="+mn-ea"/>
              </a:rPr>
              <a:t>: </a:t>
            </a:r>
            <a:r>
              <a:rPr lang="zh-CN" altLang="en-US" sz="2400">
                <a:sym typeface="+mn-ea"/>
              </a:rPr>
              <a:t>零样本泛化，无需额外训练</a:t>
            </a:r>
            <a:endParaRPr lang="zh-CN" altLang="en-US" sz="2400"/>
          </a:p>
          <a:p>
            <a:pPr marL="0" indent="0">
              <a:buNone/>
            </a:pPr>
            <a:endParaRPr lang="zh-CN" altLang="en-US" sz="300"/>
          </a:p>
          <a:p>
            <a:pPr marL="0" indent="0" algn="r">
              <a:buNone/>
            </a:pPr>
            <a:endParaRPr lang="zh-CN" altLang="en-US" sz="2000"/>
          </a:p>
        </p:txBody>
      </p:sp>
      <p:sp>
        <p:nvSpPr>
          <p:cNvPr id="4" name="文本框 3"/>
          <p:cNvSpPr txBox="1"/>
          <p:nvPr/>
        </p:nvSpPr>
        <p:spPr>
          <a:xfrm>
            <a:off x="4490720" y="5967730"/>
            <a:ext cx="7455535" cy="773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algn="r">
              <a:lnSpc>
                <a:spcPct val="90000"/>
              </a:lnSpc>
              <a:spcBef>
                <a:spcPts val="1000"/>
              </a:spcBef>
              <a:buClrTx/>
              <a:buSzTx/>
              <a:buAutoNum type="arabicPeriod"/>
            </a:pPr>
            <a:r>
              <a:rPr lang="en-US" altLang="zh-CN" sz="2000" b="0" i="0"/>
              <a:t>开放词汇: 可以换成任意描述，如 ["一条柯基犬", "一只牧羊犬"]</a:t>
            </a:r>
          </a:p>
          <a:p>
            <a:pPr marL="0" algn="r">
              <a:lnSpc>
                <a:spcPct val="90000"/>
              </a:lnSpc>
              <a:spcBef>
                <a:spcPts val="1000"/>
              </a:spcBef>
              <a:buClrTx/>
              <a:buSzTx/>
              <a:buAutoNum type="arabicPeriod"/>
            </a:pPr>
            <a:r>
              <a:rPr lang="en-US" altLang="zh-CN" sz="2000" b="0" i="0"/>
              <a:t>语义理解: 能识别“一只在草地上奔跑的狗”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130300" y="4291330"/>
            <a:ext cx="10439400" cy="156845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 anchor="t">
            <a:spAutoFit/>
          </a:bodyPr>
          <a:lstStyle/>
          <a:p>
            <a:pPr marL="0" indent="0">
              <a:buNone/>
            </a:pPr>
            <a:r>
              <a:rPr lang="zh-CN" altLang="en-US" sz="2400">
                <a:sym typeface="+mn-ea"/>
              </a:rPr>
              <a:t>例：</a:t>
            </a:r>
            <a:endParaRPr lang="zh-CN" altLang="en-US" sz="2400"/>
          </a:p>
          <a:p>
            <a:pPr marL="0" indent="0">
              <a:buNone/>
            </a:pPr>
            <a:r>
              <a:rPr lang="en-US" altLang="zh-CN" sz="2400">
                <a:sym typeface="+mn-ea"/>
              </a:rPr>
              <a:t>   </a:t>
            </a:r>
            <a:r>
              <a:rPr lang="zh-CN" altLang="en-US" sz="2400">
                <a:sym typeface="+mn-ea"/>
              </a:rPr>
              <a:t>输入</a:t>
            </a:r>
            <a:r>
              <a:rPr lang="en-US" altLang="zh-CN" sz="2400">
                <a:sym typeface="+mn-ea"/>
              </a:rPr>
              <a:t>: </a:t>
            </a:r>
            <a:r>
              <a:rPr lang="zh-CN" altLang="en-US" sz="2400">
                <a:sym typeface="+mn-ea"/>
              </a:rPr>
              <a:t>一张狗的图片</a:t>
            </a:r>
            <a:r>
              <a:rPr lang="en-US" altLang="zh-CN" sz="2400">
                <a:sym typeface="+mn-ea"/>
              </a:rPr>
              <a:t> + </a:t>
            </a:r>
            <a:r>
              <a:rPr lang="zh-CN" altLang="en-US" sz="2400">
                <a:sym typeface="+mn-ea"/>
              </a:rPr>
              <a:t>文本描述</a:t>
            </a:r>
            <a:r>
              <a:rPr lang="en-US" altLang="zh-CN" sz="2400">
                <a:sym typeface="+mn-ea"/>
              </a:rPr>
              <a:t>:["</a:t>
            </a:r>
            <a:r>
              <a:rPr lang="zh-CN" altLang="en-US" sz="2400">
                <a:sym typeface="+mn-ea"/>
              </a:rPr>
              <a:t>一只小狗躺在草地上沐浴阳光</a:t>
            </a:r>
            <a:r>
              <a:rPr lang="en-US" altLang="zh-CN" sz="2400">
                <a:sym typeface="+mn-ea"/>
              </a:rPr>
              <a:t>"]</a:t>
            </a:r>
            <a:endParaRPr lang="en-US" altLang="zh-CN" sz="2400"/>
          </a:p>
          <a:p>
            <a:pPr marL="0" indent="0">
              <a:buNone/>
            </a:pPr>
            <a:r>
              <a:rPr lang="en-US" altLang="zh-CN" sz="2400">
                <a:sym typeface="+mn-ea"/>
              </a:rPr>
              <a:t>   </a:t>
            </a:r>
            <a:r>
              <a:rPr lang="zh-CN" altLang="en-US" sz="2400">
                <a:sym typeface="+mn-ea"/>
              </a:rPr>
              <a:t>任务：计算图片与每个描述的相似度</a:t>
            </a:r>
            <a:endParaRPr lang="zh-CN" altLang="en-US" sz="2400"/>
          </a:p>
          <a:p>
            <a:pPr marL="0" indent="0">
              <a:buNone/>
            </a:pPr>
            <a:r>
              <a:rPr lang="en-US" altLang="zh-CN" sz="2400">
                <a:sym typeface="+mn-ea"/>
              </a:rPr>
              <a:t>   </a:t>
            </a:r>
            <a:r>
              <a:rPr lang="zh-CN" altLang="en-US" sz="2400">
                <a:sym typeface="+mn-ea"/>
              </a:rPr>
              <a:t>输出</a:t>
            </a:r>
            <a:r>
              <a:rPr lang="en-US" altLang="zh-CN" sz="2400">
                <a:sym typeface="+mn-ea"/>
              </a:rPr>
              <a:t>: `Sim(</a:t>
            </a:r>
            <a:r>
              <a:rPr lang="zh-CN" altLang="en-US" sz="2400">
                <a:sym typeface="+mn-ea"/>
              </a:rPr>
              <a:t>图</a:t>
            </a:r>
            <a:r>
              <a:rPr lang="en-US" altLang="zh-CN" sz="2400">
                <a:sym typeface="+mn-ea"/>
              </a:rPr>
              <a:t>, "</a:t>
            </a:r>
            <a:r>
              <a:rPr lang="zh-CN" altLang="en-US" sz="2400">
                <a:sym typeface="+mn-ea"/>
              </a:rPr>
              <a:t>一只狗</a:t>
            </a:r>
            <a:r>
              <a:rPr lang="en-US" altLang="zh-CN" sz="2400">
                <a:sym typeface="+mn-ea"/>
              </a:rPr>
              <a:t>")`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CLIP</a:t>
            </a:r>
            <a:r>
              <a:rPr lang="zh-CN" altLang="en-US">
                <a:sym typeface="+mn-ea"/>
              </a:rPr>
              <a:t>模型：核心算法流程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08125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2000"/>
              <a:t>4. </a:t>
            </a:r>
            <a:r>
              <a:rPr lang="zh-CN" altLang="en-US" sz="2000">
                <a:solidFill>
                  <a:srgbClr val="FF0000"/>
                </a:solidFill>
              </a:rPr>
              <a:t>损失函数</a:t>
            </a:r>
            <a:r>
              <a:rPr lang="zh-CN" sz="2000"/>
              <a:t>的计算</a:t>
            </a:r>
          </a:p>
          <a:p>
            <a:pPr marL="0" indent="0">
              <a:buNone/>
            </a:pPr>
            <a:r>
              <a:rPr lang="zh-CN" altLang="en-US" sz="2000"/>
              <a:t>通过交叉熵损失</a:t>
            </a:r>
            <a:r>
              <a:rPr lang="zh-CN" altLang="en-US" sz="2000" b="1">
                <a:solidFill>
                  <a:srgbClr val="FF0000"/>
                </a:solidFill>
              </a:rPr>
              <a:t>双向优化</a:t>
            </a:r>
            <a:r>
              <a:rPr lang="zh-CN" altLang="en-US" sz="2000"/>
              <a:t>：既用图像预测文本</a:t>
            </a:r>
            <a:r>
              <a:rPr lang="en-US" altLang="zh-CN" sz="2000"/>
              <a:t>         </a:t>
            </a:r>
            <a:r>
              <a:rPr lang="zh-CN" altLang="en-US" sz="2000"/>
              <a:t>，也用文本预测图像</a:t>
            </a:r>
            <a:r>
              <a:rPr lang="en-US" altLang="zh-CN" sz="2000"/>
              <a:t>           </a:t>
            </a:r>
            <a:r>
              <a:rPr lang="zh-CN" altLang="en-US" sz="2000"/>
              <a:t>，最终损失取两者平均值。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2180" y="1941195"/>
            <a:ext cx="482600" cy="29337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2695" y="1891030"/>
            <a:ext cx="495300" cy="37401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0770" y="2701290"/>
            <a:ext cx="2428875" cy="65722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40330" y="3289300"/>
            <a:ext cx="3371850" cy="1685925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40940" y="5059680"/>
            <a:ext cx="1924050" cy="80010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838200" y="5234940"/>
            <a:ext cx="180213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/>
            <a:r>
              <a:rPr lang="zh-CN" altLang="en-US" sz="2000" i="0"/>
              <a:t>最终对称损失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838200" y="3484880"/>
            <a:ext cx="1993265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/>
            <a:r>
              <a:rPr lang="zh-CN" altLang="en-US" sz="2000" i="0"/>
              <a:t>计算双向损失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838200" y="2830830"/>
            <a:ext cx="1993265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/>
            <a:r>
              <a:rPr lang="zh-CN" altLang="en-US" sz="2000" i="0"/>
              <a:t>相似度矩阵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5072380" y="2573655"/>
            <a:ext cx="6065520" cy="58356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marL="0" indent="0"/>
            <a:r>
              <a:rPr lang="zh-CN" altLang="en-US" sz="1600" b="0" i="0">
                <a:solidFill>
                  <a:schemeClr val="bg1">
                    <a:lumMod val="50000"/>
                  </a:schemeClr>
                </a:solidFill>
              </a:rPr>
              <a:t>温度参数 τ：τ 越小，后面做 Softmax 的时候分布就越尖，模型就更显著地把正样本的分数抬高，把负样本</a:t>
            </a:r>
            <a:r>
              <a:rPr lang="zh-CN" altLang="en-US" sz="1600">
                <a:solidFill>
                  <a:schemeClr val="bg1">
                    <a:lumMod val="50000"/>
                  </a:schemeClr>
                </a:solidFill>
                <a:sym typeface="+mn-ea"/>
              </a:rPr>
              <a:t>的</a:t>
            </a:r>
            <a:r>
              <a:rPr lang="zh-CN" altLang="en-US" sz="1600" b="0" i="0">
                <a:solidFill>
                  <a:schemeClr val="bg1">
                    <a:lumMod val="50000"/>
                  </a:schemeClr>
                </a:solidFill>
              </a:rPr>
              <a:t>得分压下去。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6273800" y="3566160"/>
            <a:ext cx="5080000" cy="112268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>
            <a:noAutofit/>
          </a:bodyPr>
          <a:lstStyle/>
          <a:p>
            <a:pPr marL="0" indent="0"/>
            <a:r>
              <a:rPr lang="zh-CN" altLang="en-US" sz="1600" b="0" i="0">
                <a:solidFill>
                  <a:schemeClr val="bg1">
                    <a:lumMod val="50000"/>
                  </a:schemeClr>
                </a:solidFill>
              </a:rPr>
              <a:t>双向对齐：对矩阵的每一行做 Softmax，强制每张图在所有文本中找到唯一正确的描述；对矩阵的每一列做 Softmax，强制每个文本在所有图像中找到正确的那张。图文的语义空间就可以对齐得更紧。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4479290" y="5237797"/>
            <a:ext cx="5080000" cy="58356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>
            <a:spAutoFit/>
          </a:bodyPr>
          <a:lstStyle/>
          <a:p>
            <a:pPr marL="0" indent="0"/>
            <a:r>
              <a:rPr lang="zh-CN" altLang="en-US" sz="1600" b="0" i="0">
                <a:solidFill>
                  <a:schemeClr val="bg1">
                    <a:lumMod val="50000"/>
                  </a:schemeClr>
                </a:solidFill>
              </a:rPr>
              <a:t>直觉上理解，取均值在做的事情就是把正样本的</a:t>
            </a:r>
            <a:r>
              <a:rPr lang="en-US" altLang="zh-CN" sz="1600" b="0" i="0">
                <a:solidFill>
                  <a:schemeClr val="bg1">
                    <a:lumMod val="50000"/>
                  </a:schemeClr>
                </a:solidFill>
              </a:rPr>
              <a:t>”</a:t>
            </a:r>
            <a:r>
              <a:rPr lang="zh-CN" altLang="en-US" sz="1600" b="0" i="0">
                <a:solidFill>
                  <a:schemeClr val="bg1">
                    <a:lumMod val="50000"/>
                  </a:schemeClr>
                </a:solidFill>
              </a:rPr>
              <a:t>图</a:t>
            </a:r>
            <a:r>
              <a:rPr lang="en-US" altLang="zh-CN" sz="1600" b="0" i="0">
                <a:solidFill>
                  <a:schemeClr val="bg1">
                    <a:lumMod val="50000"/>
                  </a:schemeClr>
                </a:solidFill>
              </a:rPr>
              <a:t>-</a:t>
            </a:r>
            <a:r>
              <a:rPr lang="zh-CN" altLang="en-US" sz="1600" b="0" i="0">
                <a:solidFill>
                  <a:schemeClr val="bg1">
                    <a:lumMod val="50000"/>
                  </a:schemeClr>
                </a:solidFill>
              </a:rPr>
              <a:t>文</a:t>
            </a:r>
            <a:r>
              <a:rPr lang="en-US" altLang="zh-CN" sz="1600" b="0" i="0">
                <a:solidFill>
                  <a:schemeClr val="bg1">
                    <a:lumMod val="50000"/>
                  </a:schemeClr>
                </a:solidFill>
              </a:rPr>
              <a:t>“”</a:t>
            </a:r>
            <a:r>
              <a:rPr lang="zh-CN" altLang="en-US" sz="1600" b="0" i="0">
                <a:solidFill>
                  <a:schemeClr val="bg1">
                    <a:lumMod val="50000"/>
                  </a:schemeClr>
                </a:solidFill>
              </a:rPr>
              <a:t>文</a:t>
            </a:r>
            <a:r>
              <a:rPr lang="en-US" altLang="zh-CN" sz="1600" b="0" i="0">
                <a:solidFill>
                  <a:schemeClr val="bg1">
                    <a:lumMod val="50000"/>
                  </a:schemeClr>
                </a:solidFill>
              </a:rPr>
              <a:t>-</a:t>
            </a:r>
            <a:r>
              <a:rPr lang="zh-CN" altLang="en-US" sz="1600" b="0" i="0">
                <a:solidFill>
                  <a:schemeClr val="bg1">
                    <a:lumMod val="50000"/>
                  </a:schemeClr>
                </a:solidFill>
              </a:rPr>
              <a:t>图</a:t>
            </a:r>
            <a:r>
              <a:rPr lang="en-US" altLang="zh-CN" sz="1600" b="0" i="0">
                <a:solidFill>
                  <a:schemeClr val="bg1">
                    <a:lumMod val="50000"/>
                  </a:schemeClr>
                </a:solidFill>
              </a:rPr>
              <a:t>“</a:t>
            </a:r>
            <a:r>
              <a:rPr lang="zh-CN" altLang="en-US" sz="1600" b="0" i="0">
                <a:solidFill>
                  <a:schemeClr val="bg1">
                    <a:lumMod val="50000"/>
                  </a:schemeClr>
                </a:solidFill>
              </a:rPr>
              <a:t>结果拉近，把其他所有的负样本推远。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7231380" y="6344285"/>
            <a:ext cx="4495800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algn="l">
              <a:buClrTx/>
              <a:buSzTx/>
              <a:buFontTx/>
            </a:pPr>
            <a:r>
              <a:rPr lang="zh-CN" altLang="en-US" sz="1600" b="0" i="0">
                <a:solidFill>
                  <a:schemeClr val="bg1">
                    <a:lumMod val="50000"/>
                  </a:schemeClr>
                </a:solidFill>
              </a:rPr>
              <a:t>反向传播求梯度，更新双编码器参数</a:t>
            </a:r>
            <a:r>
              <a:rPr lang="en-US" altLang="zh-CN" sz="1600" b="0" i="0">
                <a:solidFill>
                  <a:schemeClr val="bg1">
                    <a:lumMod val="50000"/>
                  </a:schemeClr>
                </a:solidFill>
              </a:rPr>
              <a:t>...</a:t>
            </a:r>
            <a:r>
              <a:rPr lang="zh-CN" altLang="en-US" sz="1600" b="0" i="0">
                <a:solidFill>
                  <a:schemeClr val="bg1">
                    <a:lumMod val="50000"/>
                  </a:schemeClr>
                </a:solidFill>
              </a:rPr>
              <a:t>训练完毕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CLIP</a:t>
            </a:r>
            <a:r>
              <a:rPr lang="zh-CN" altLang="en-US">
                <a:sym typeface="+mn-ea"/>
              </a:rPr>
              <a:t>模型：核心算法流程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08125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2000"/>
              <a:t>1. </a:t>
            </a:r>
            <a:r>
              <a:rPr lang="zh-CN" altLang="en-US" sz="2000"/>
              <a:t>给定批次的</a:t>
            </a:r>
            <a:r>
              <a:rPr lang="en-US" altLang="zh-CN" sz="2000"/>
              <a:t>N</a:t>
            </a:r>
            <a:r>
              <a:rPr lang="zh-CN" altLang="en-US" sz="2000"/>
              <a:t>个</a:t>
            </a:r>
            <a:r>
              <a:rPr lang="en-US" altLang="zh-CN" sz="2000">
                <a:solidFill>
                  <a:srgbClr val="FF0000"/>
                </a:solidFill>
              </a:rPr>
              <a:t>“</a:t>
            </a:r>
            <a:r>
              <a:rPr lang="zh-CN" altLang="en-US" sz="2000">
                <a:solidFill>
                  <a:srgbClr val="FF0000"/>
                </a:solidFill>
              </a:rPr>
              <a:t>图像</a:t>
            </a:r>
            <a:r>
              <a:rPr lang="en-US" altLang="zh-CN" sz="2000">
                <a:solidFill>
                  <a:srgbClr val="FF0000"/>
                </a:solidFill>
              </a:rPr>
              <a:t>-</a:t>
            </a:r>
            <a:r>
              <a:rPr lang="zh-CN" altLang="en-US" sz="2000">
                <a:solidFill>
                  <a:srgbClr val="FF0000"/>
                </a:solidFill>
              </a:rPr>
              <a:t>文本</a:t>
            </a:r>
            <a:r>
              <a:rPr lang="en-US" altLang="zh-CN" sz="2000">
                <a:solidFill>
                  <a:srgbClr val="FF0000"/>
                </a:solidFill>
              </a:rPr>
              <a:t>”</a:t>
            </a:r>
            <a:r>
              <a:rPr lang="zh-CN" altLang="en-US" sz="2000">
                <a:solidFill>
                  <a:srgbClr val="FF0000"/>
                </a:solidFill>
              </a:rPr>
              <a:t>对</a:t>
            </a:r>
            <a:r>
              <a:rPr lang="en-US" altLang="zh-CN" sz="2000"/>
              <a:t> </a:t>
            </a:r>
          </a:p>
          <a:p>
            <a:pPr marL="0" indent="0">
              <a:buNone/>
            </a:pPr>
            <a:r>
              <a:rPr lang="en-US" altLang="zh-CN" sz="2000"/>
              <a:t>2. </a:t>
            </a:r>
            <a:r>
              <a:rPr lang="zh-CN" altLang="en-US" sz="2000"/>
              <a:t>将图像</a:t>
            </a:r>
            <a:r>
              <a:rPr lang="en-US" altLang="zh-CN" sz="2000"/>
              <a:t>/</a:t>
            </a:r>
            <a:r>
              <a:rPr lang="zh-CN" altLang="en-US" sz="2000"/>
              <a:t>文本经过</a:t>
            </a:r>
            <a:r>
              <a:rPr lang="zh-CN" altLang="en-US" sz="2000">
                <a:solidFill>
                  <a:srgbClr val="FF0000"/>
                </a:solidFill>
              </a:rPr>
              <a:t>线性变换层 + L2归一化层</a:t>
            </a:r>
            <a:r>
              <a:rPr lang="zh-CN" altLang="en-US" sz="2000"/>
              <a:t>，得到嵌入向量</a:t>
            </a:r>
          </a:p>
          <a:p>
            <a:pPr marL="0" indent="0">
              <a:buNone/>
            </a:pPr>
            <a:endParaRPr lang="zh-CN" altLang="en-US" sz="2000"/>
          </a:p>
          <a:p>
            <a:pPr marL="0" indent="0">
              <a:buNone/>
            </a:pPr>
            <a:r>
              <a:rPr lang="en-US" altLang="zh-CN" sz="2000"/>
              <a:t>3.</a:t>
            </a:r>
            <a:r>
              <a:rPr lang="zh-CN" altLang="en-US" sz="2000"/>
              <a:t>计算</a:t>
            </a:r>
            <a:r>
              <a:rPr lang="en-US" altLang="zh-CN" sz="2000"/>
              <a:t>“</a:t>
            </a:r>
            <a:r>
              <a:rPr lang="zh-CN" altLang="en-US" sz="2000"/>
              <a:t>图像</a:t>
            </a:r>
            <a:r>
              <a:rPr lang="en-US" altLang="zh-CN" sz="2000"/>
              <a:t>-</a:t>
            </a:r>
            <a:r>
              <a:rPr lang="zh-CN" altLang="en-US" sz="2000"/>
              <a:t>文本</a:t>
            </a:r>
            <a:r>
              <a:rPr lang="en-US" altLang="zh-CN" sz="2000"/>
              <a:t>”</a:t>
            </a:r>
            <a:r>
              <a:rPr lang="zh-CN" altLang="en-US" sz="2000"/>
              <a:t>对的</a:t>
            </a:r>
            <a:r>
              <a:rPr lang="zh-CN" altLang="en-US" sz="2000">
                <a:solidFill>
                  <a:srgbClr val="FF0000"/>
                </a:solidFill>
              </a:rPr>
              <a:t>相似度矩阵</a:t>
            </a:r>
            <a:endParaRPr lang="zh-CN" altLang="en-US" sz="200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7550" y="1482725"/>
            <a:ext cx="2838450" cy="381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7460" y="1691005"/>
            <a:ext cx="3619500" cy="101917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6465" y="2622550"/>
            <a:ext cx="1885950" cy="46672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9370" y="3127375"/>
            <a:ext cx="5313045" cy="355346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13905" y="3537585"/>
            <a:ext cx="3942080" cy="134429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7113905" y="5065395"/>
            <a:ext cx="4065905" cy="143510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 anchor="t">
            <a:noAutofit/>
          </a:bodyPr>
          <a:lstStyle/>
          <a:p>
            <a:r>
              <a:rPr lang="en-US" altLang="zh-CN" sz="1400">
                <a:solidFill>
                  <a:schemeClr val="bg1">
                    <a:lumMod val="50000"/>
                  </a:schemeClr>
                </a:solidFill>
              </a:rPr>
              <a:t>CLIP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</a:rPr>
              <a:t>采用的策略非常巧妙，就是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</a:rPr>
              <a:t>“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</a:rPr>
              <a:t>对比学习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</a:rPr>
              <a:t>”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</a:rPr>
              <a:t>。它的思想很简单：在一个批次的数据里，正确的图文对，我们称之为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</a:rPr>
              <a:t>“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</a:rPr>
              <a:t>正样本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</a:rPr>
              <a:t>”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</a:rPr>
              <a:t>，模型需要让它们的向量在空间中尽可能地靠近。而所有那些不匹配的组合，我们称之为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</a:rPr>
              <a:t>“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</a:rPr>
              <a:t>负样本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</a:rPr>
              <a:t>”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</a:rPr>
              <a:t>，模型需要让它们的向量尽可能地远离。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CLIP</a:t>
            </a:r>
            <a:r>
              <a:rPr lang="zh-CN" altLang="en-US">
                <a:sym typeface="+mn-ea"/>
              </a:rPr>
              <a:t>模型：核心算法伪代码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130" y="1442720"/>
            <a:ext cx="4819650" cy="514032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961380" y="3091815"/>
            <a:ext cx="2992120" cy="33718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marL="0" indent="0"/>
            <a:r>
              <a:rPr lang="zh-CN" altLang="en-US" sz="1600" b="0" i="0">
                <a:solidFill>
                  <a:schemeClr val="bg1">
                    <a:lumMod val="50000"/>
                  </a:schemeClr>
                </a:solidFill>
              </a:rPr>
              <a:t>多模态特征提取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5910580" y="3716655"/>
            <a:ext cx="3017520" cy="58356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marL="0" indent="0"/>
            <a:r>
              <a:rPr lang="zh-CN" altLang="en-US" sz="1600" b="0" i="0">
                <a:solidFill>
                  <a:schemeClr val="bg1">
                    <a:lumMod val="50000"/>
                  </a:schemeClr>
                </a:solidFill>
              </a:rPr>
              <a:t>线性变换</a:t>
            </a:r>
            <a:r>
              <a:rPr lang="en-US" altLang="zh-CN" sz="1600" b="0" i="0">
                <a:solidFill>
                  <a:schemeClr val="bg1">
                    <a:lumMod val="50000"/>
                  </a:schemeClr>
                </a:solidFill>
              </a:rPr>
              <a:t>+L2</a:t>
            </a:r>
            <a:r>
              <a:rPr lang="zh-CN" altLang="en-US" sz="1600" b="0" i="0">
                <a:solidFill>
                  <a:schemeClr val="bg1">
                    <a:lumMod val="50000"/>
                  </a:schemeClr>
                </a:solidFill>
              </a:rPr>
              <a:t>归一化</a:t>
            </a:r>
          </a:p>
          <a:p>
            <a:pPr marL="0" indent="0"/>
            <a:r>
              <a:rPr lang="zh-CN" altLang="en-US" sz="1600" b="0" i="0">
                <a:solidFill>
                  <a:schemeClr val="bg1">
                    <a:lumMod val="50000"/>
                  </a:schemeClr>
                </a:solidFill>
              </a:rPr>
              <a:t>（多模态特征映射到特征空间）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5935980" y="4509135"/>
            <a:ext cx="1684655" cy="33718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marL="0" indent="0"/>
            <a:r>
              <a:rPr lang="zh-CN" altLang="en-US" sz="1600" b="0" i="0">
                <a:solidFill>
                  <a:schemeClr val="bg1">
                    <a:lumMod val="50000"/>
                  </a:schemeClr>
                </a:solidFill>
              </a:rPr>
              <a:t>余弦相似度计算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6096000" y="5139690"/>
            <a:ext cx="1499235" cy="33718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marL="0" indent="0"/>
            <a:r>
              <a:rPr lang="zh-CN" altLang="en-US" sz="1600" b="0" i="0">
                <a:solidFill>
                  <a:schemeClr val="bg1">
                    <a:lumMod val="50000"/>
                  </a:schemeClr>
                </a:solidFill>
              </a:rPr>
              <a:t>损失函数计算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>
                <a:sym typeface="+mn-ea"/>
              </a:rPr>
              <a:t>实验结果</a:t>
            </a:r>
            <a:endParaRPr 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08125"/>
            <a:ext cx="8015605" cy="137668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2000" b="1"/>
              <a:t>1.</a:t>
            </a:r>
            <a:r>
              <a:rPr lang="zh-CN" sz="2000" b="1"/>
              <a:t>零样本迁移能力（对比</a:t>
            </a:r>
            <a:r>
              <a:rPr lang="en-US" altLang="zh-CN" sz="2000" b="1"/>
              <a:t>Visual N-Grams</a:t>
            </a:r>
            <a:r>
              <a:rPr lang="zh-CN" altLang="en-US" sz="2000" b="1"/>
              <a:t>方法，以</a:t>
            </a:r>
            <a:r>
              <a:rPr lang="en-US" altLang="zh-CN" sz="2000" b="1"/>
              <a:t>ImageNet</a:t>
            </a:r>
            <a:r>
              <a:rPr lang="zh-CN" altLang="en-US" sz="2000" b="1"/>
              <a:t>为例</a:t>
            </a:r>
            <a:r>
              <a:rPr lang="zh-CN" sz="2000" b="1"/>
              <a:t>）</a:t>
            </a:r>
          </a:p>
          <a:p>
            <a:pPr marL="0" indent="0">
              <a:buNone/>
            </a:pPr>
            <a:r>
              <a:rPr lang="en-US" altLang="zh-CN" sz="2000"/>
              <a:t>ImageNet Zero-Shot  Top-1</a:t>
            </a:r>
            <a:r>
              <a:rPr lang="zh-CN" altLang="en-US" sz="2000"/>
              <a:t>准确率</a:t>
            </a:r>
            <a:r>
              <a:rPr lang="en-US" altLang="zh-CN" sz="2000"/>
              <a:t> </a:t>
            </a:r>
            <a:r>
              <a:rPr lang="en-US" altLang="zh-CN" sz="2000">
                <a:solidFill>
                  <a:srgbClr val="FF0000"/>
                </a:solidFill>
              </a:rPr>
              <a:t>76.2%</a:t>
            </a:r>
            <a:r>
              <a:rPr lang="en-US" altLang="zh-CN" sz="2000"/>
              <a:t> </a:t>
            </a:r>
            <a:r>
              <a:rPr lang="zh-CN" altLang="en-US" sz="2000"/>
              <a:t>（与</a:t>
            </a:r>
            <a:r>
              <a:rPr lang="en-US" altLang="zh-CN" sz="2000"/>
              <a:t>ResNet50</a:t>
            </a:r>
            <a:r>
              <a:rPr lang="zh-CN" altLang="en-US" sz="2000"/>
              <a:t>相当）</a:t>
            </a:r>
            <a:endParaRPr lang="en-US" altLang="zh-CN" sz="2000"/>
          </a:p>
          <a:p>
            <a:pPr marL="0" indent="0">
              <a:buNone/>
            </a:pPr>
            <a:r>
              <a:rPr lang="en-US" altLang="zh-CN" sz="2000"/>
              <a:t>                                      Top-5</a:t>
            </a:r>
            <a:r>
              <a:rPr lang="zh-CN" altLang="en-US" sz="2000"/>
              <a:t>准确率</a:t>
            </a:r>
            <a:r>
              <a:rPr lang="en-US" altLang="zh-CN" sz="2000"/>
              <a:t> </a:t>
            </a:r>
            <a:r>
              <a:rPr lang="en-US" altLang="zh-CN" sz="2000">
                <a:solidFill>
                  <a:srgbClr val="FF0000"/>
                </a:solidFill>
              </a:rPr>
              <a:t>95%</a:t>
            </a:r>
            <a:r>
              <a:rPr lang="en-US" altLang="zh-CN" sz="2000"/>
              <a:t>     </a:t>
            </a:r>
            <a:r>
              <a:rPr lang="zh-CN" altLang="en-US" sz="2000"/>
              <a:t>（与</a:t>
            </a:r>
            <a:r>
              <a:rPr lang="en-US" altLang="zh-CN" sz="2000"/>
              <a:t>Inception-V4</a:t>
            </a:r>
            <a:r>
              <a:rPr lang="zh-CN" altLang="en-US" sz="2000"/>
              <a:t>相当）</a:t>
            </a:r>
            <a:endParaRPr lang="en-US" altLang="zh-CN" sz="2000"/>
          </a:p>
          <a:p>
            <a:pPr marL="0" indent="0">
              <a:buNone/>
            </a:pPr>
            <a:endParaRPr lang="en-US" altLang="zh-CN" sz="2000"/>
          </a:p>
          <a:p>
            <a:pPr marL="0" indent="0">
              <a:buNone/>
            </a:pPr>
            <a:endParaRPr lang="en-US" altLang="zh-CN" sz="2000"/>
          </a:p>
          <a:p>
            <a:pPr marL="0" indent="0">
              <a:buNone/>
            </a:pPr>
            <a:endParaRPr lang="en-US" altLang="zh-CN" sz="2000"/>
          </a:p>
          <a:p>
            <a:pPr marL="0" indent="0">
              <a:buNone/>
            </a:pPr>
            <a:endParaRPr lang="zh-CN" altLang="en-US" sz="200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5" y="3256280"/>
            <a:ext cx="5495925" cy="25717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>
                <a:sym typeface="+mn-ea"/>
              </a:rPr>
              <a:t>实验结果</a:t>
            </a:r>
            <a:endParaRPr 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08125"/>
            <a:ext cx="5867400" cy="435165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2000" b="1">
                <a:sym typeface="+mn-ea"/>
              </a:rPr>
              <a:t>1.</a:t>
            </a:r>
            <a:r>
              <a:rPr lang="zh-CN" sz="2000" b="1">
                <a:sym typeface="+mn-ea"/>
              </a:rPr>
              <a:t>零样本迁移能力</a:t>
            </a:r>
          </a:p>
          <a:p>
            <a:pPr marL="0" indent="0">
              <a:buNone/>
            </a:pPr>
            <a:r>
              <a:rPr lang="zh-CN" altLang="en-US" sz="1600"/>
              <a:t>预训练后的</a:t>
            </a:r>
            <a:r>
              <a:rPr lang="en-US" altLang="zh-CN" sz="1600"/>
              <a:t>CLIP</a:t>
            </a:r>
            <a:r>
              <a:rPr lang="zh-CN" altLang="en-US" sz="1600"/>
              <a:t>模型无需在下游任务上进行微调，即可通过</a:t>
            </a:r>
            <a:r>
              <a:rPr lang="en-US" altLang="zh-CN" sz="1600"/>
              <a:t>Prompt</a:t>
            </a:r>
            <a:r>
              <a:rPr lang="zh-CN" altLang="en-US" sz="1600"/>
              <a:t>工程直接完成多种视觉任务，展现出</a:t>
            </a:r>
            <a:r>
              <a:rPr lang="zh-CN" altLang="en-US" sz="1600">
                <a:solidFill>
                  <a:srgbClr val="FF0000"/>
                </a:solidFill>
              </a:rPr>
              <a:t>强大的泛化能力</a:t>
            </a:r>
            <a:r>
              <a:rPr lang="zh-CN" altLang="en-US" sz="1600"/>
              <a:t>。</a:t>
            </a:r>
          </a:p>
          <a:p>
            <a:pPr marL="0" indent="0">
              <a:buNone/>
            </a:pPr>
            <a:r>
              <a:rPr lang="zh-CN" altLang="en-US" sz="1600"/>
              <a:t>在</a:t>
            </a:r>
            <a:r>
              <a:rPr lang="en-US" altLang="zh-CN" sz="1600"/>
              <a:t> 27 </a:t>
            </a:r>
            <a:r>
              <a:rPr lang="zh-CN" altLang="en-US" sz="1600"/>
              <a:t>个数据集评估套件中的</a:t>
            </a:r>
            <a:r>
              <a:rPr lang="en-US" altLang="zh-CN" sz="1600">
                <a:sym typeface="+mn-ea"/>
              </a:rPr>
              <a:t> </a:t>
            </a:r>
            <a:r>
              <a:rPr lang="en-US" altLang="zh-CN" sz="1600">
                <a:solidFill>
                  <a:srgbClr val="FF0000"/>
                </a:solidFill>
                <a:sym typeface="+mn-ea"/>
              </a:rPr>
              <a:t>16 </a:t>
            </a:r>
            <a:r>
              <a:rPr lang="zh-CN" altLang="en-US" sz="1600">
                <a:solidFill>
                  <a:srgbClr val="FF0000"/>
                </a:solidFill>
                <a:sym typeface="+mn-ea"/>
              </a:rPr>
              <a:t>个数据集</a:t>
            </a:r>
            <a:r>
              <a:rPr lang="zh-CN" altLang="en-US" sz="1600">
                <a:sym typeface="+mn-ea"/>
              </a:rPr>
              <a:t>中（包括</a:t>
            </a:r>
            <a:r>
              <a:rPr lang="en-US" altLang="zh-CN" sz="1600">
                <a:sym typeface="+mn-ea"/>
              </a:rPr>
              <a:t> ImageNet</a:t>
            </a:r>
            <a:r>
              <a:rPr lang="zh-CN" altLang="en-US" sz="1600">
                <a:sym typeface="+mn-ea"/>
              </a:rPr>
              <a:t>）</a:t>
            </a:r>
            <a:r>
              <a:rPr lang="zh-CN" altLang="en-US" sz="1600"/>
              <a:t>，零样本</a:t>
            </a:r>
            <a:r>
              <a:rPr lang="en-US" altLang="zh-CN" sz="1600"/>
              <a:t> CLIP </a:t>
            </a:r>
            <a:r>
              <a:rPr lang="zh-CN" altLang="en-US" sz="1600"/>
              <a:t>分类器的性能优于在其上经过充分监督训练的</a:t>
            </a:r>
            <a:r>
              <a:rPr lang="en-US" altLang="zh-CN" sz="1600"/>
              <a:t> ResNet50 </a:t>
            </a:r>
            <a:r>
              <a:rPr lang="zh-CN" altLang="en-US" sz="1600"/>
              <a:t>线性分类器。</a:t>
            </a:r>
            <a:endParaRPr lang="en-US" altLang="zh-CN" sz="1600"/>
          </a:p>
          <a:p>
            <a:pPr marL="0" indent="0">
              <a:buNone/>
            </a:pPr>
            <a:endParaRPr lang="zh-CN" altLang="en-US" sz="2000"/>
          </a:p>
          <a:p>
            <a:pPr marL="0" indent="0">
              <a:buNone/>
            </a:pPr>
            <a:endParaRPr lang="zh-CN" altLang="en-US" sz="2000"/>
          </a:p>
          <a:p>
            <a:pPr marL="0" indent="0">
              <a:buNone/>
            </a:pPr>
            <a:endParaRPr lang="zh-CN" altLang="en-US" sz="2000"/>
          </a:p>
          <a:p>
            <a:pPr marL="0" indent="0">
              <a:buNone/>
            </a:pPr>
            <a:r>
              <a:rPr lang="zh-CN" altLang="en-US" sz="1800"/>
              <a:t>缺陷：</a:t>
            </a:r>
            <a:endParaRPr lang="en-US" altLang="zh-CN" sz="1800"/>
          </a:p>
          <a:p>
            <a:pPr marL="0" indent="0">
              <a:buNone/>
            </a:pPr>
            <a:r>
              <a:rPr lang="zh-CN" altLang="en-US" sz="1800"/>
              <a:t>在某些高度专业或抽象的任务上表现不佳，其性能严重依赖于预训练数据的覆盖范围，并且</a:t>
            </a:r>
            <a:r>
              <a:rPr lang="zh-CN" altLang="en-US" sz="1800">
                <a:solidFill>
                  <a:srgbClr val="FF0000"/>
                </a:solidFill>
              </a:rPr>
              <a:t>计算资源消耗巨大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2695" y="1891030"/>
            <a:ext cx="495300" cy="374015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907415" y="5570855"/>
            <a:ext cx="3852545" cy="101473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marL="0" indent="0"/>
            <a:r>
              <a:rPr lang="zh-CN" altLang="en-US" sz="1200" b="0" i="0">
                <a:solidFill>
                  <a:schemeClr val="bg1">
                    <a:lumMod val="50000"/>
                  </a:schemeClr>
                </a:solidFill>
              </a:rPr>
              <a:t>卫星图像分类（</a:t>
            </a:r>
            <a:r>
              <a:rPr lang="en-US" altLang="zh-CN" sz="1200" b="0" i="0">
                <a:solidFill>
                  <a:schemeClr val="bg1">
                    <a:lumMod val="50000"/>
                  </a:schemeClr>
                </a:solidFill>
              </a:rPr>
              <a:t>EuroSAT </a:t>
            </a:r>
            <a:r>
              <a:rPr lang="zh-CN" altLang="en-US" sz="1200" b="0" i="0">
                <a:solidFill>
                  <a:schemeClr val="bg1">
                    <a:lumMod val="50000"/>
                  </a:schemeClr>
                </a:solidFill>
              </a:rPr>
              <a:t>和</a:t>
            </a:r>
            <a:r>
              <a:rPr lang="en-US" altLang="zh-CN" sz="1200" b="0" i="0">
                <a:solidFill>
                  <a:schemeClr val="bg1">
                    <a:lumMod val="50000"/>
                  </a:schemeClr>
                </a:solidFill>
              </a:rPr>
              <a:t> RESISC45</a:t>
            </a:r>
            <a:r>
              <a:rPr lang="zh-CN" altLang="en-US" sz="1200" b="0" i="0">
                <a:solidFill>
                  <a:schemeClr val="bg1">
                    <a:lumMod val="50000"/>
                  </a:schemeClr>
                </a:solidFill>
              </a:rPr>
              <a:t>）</a:t>
            </a:r>
          </a:p>
          <a:p>
            <a:pPr marL="0" indent="0"/>
            <a:r>
              <a:rPr lang="zh-CN" altLang="en-US" sz="1200" b="0" i="0">
                <a:solidFill>
                  <a:schemeClr val="bg1">
                    <a:lumMod val="50000"/>
                  </a:schemeClr>
                </a:solidFill>
              </a:rPr>
              <a:t>淋巴结肿瘤检测（</a:t>
            </a:r>
            <a:r>
              <a:rPr lang="en-US" altLang="zh-CN" sz="1200" b="0" i="0">
                <a:solidFill>
                  <a:schemeClr val="bg1">
                    <a:lumMod val="50000"/>
                  </a:schemeClr>
                </a:solidFill>
              </a:rPr>
              <a:t>PatchCamelyon</a:t>
            </a:r>
            <a:r>
              <a:rPr lang="zh-CN" altLang="en-US" sz="1200" b="0" i="0">
                <a:solidFill>
                  <a:schemeClr val="bg1">
                    <a:lumMod val="50000"/>
                  </a:schemeClr>
                </a:solidFill>
              </a:rPr>
              <a:t>）</a:t>
            </a:r>
          </a:p>
          <a:p>
            <a:pPr marL="0" indent="0"/>
            <a:r>
              <a:rPr lang="zh-CN" altLang="en-US" sz="1200" b="0" i="0">
                <a:solidFill>
                  <a:schemeClr val="bg1">
                    <a:lumMod val="50000"/>
                  </a:schemeClr>
                </a:solidFill>
              </a:rPr>
              <a:t>计算合成场景中的对象（</a:t>
            </a:r>
            <a:r>
              <a:rPr lang="en-US" altLang="zh-CN" sz="1200" b="0" i="0">
                <a:solidFill>
                  <a:schemeClr val="bg1">
                    <a:lumMod val="50000"/>
                  </a:schemeClr>
                </a:solidFill>
              </a:rPr>
              <a:t>CLEVRCounts</a:t>
            </a:r>
            <a:r>
              <a:rPr lang="zh-CN" altLang="en-US" sz="1200" b="0" i="0">
                <a:solidFill>
                  <a:schemeClr val="bg1">
                    <a:lumMod val="50000"/>
                  </a:schemeClr>
                </a:solidFill>
              </a:rPr>
              <a:t>）</a:t>
            </a:r>
          </a:p>
          <a:p>
            <a:pPr marL="0" indent="0"/>
            <a:r>
              <a:rPr lang="zh-CN" altLang="en-US" sz="1200" b="0" i="0">
                <a:solidFill>
                  <a:schemeClr val="bg1">
                    <a:lumMod val="50000"/>
                  </a:schemeClr>
                </a:solidFill>
              </a:rPr>
              <a:t>德国交通标志识别（</a:t>
            </a:r>
            <a:r>
              <a:rPr lang="en-US" altLang="zh-CN" sz="1200" b="0" i="0">
                <a:solidFill>
                  <a:schemeClr val="bg1">
                    <a:lumMod val="50000"/>
                  </a:schemeClr>
                </a:solidFill>
              </a:rPr>
              <a:t>GTSRB</a:t>
            </a:r>
            <a:r>
              <a:rPr lang="zh-CN" altLang="en-US" sz="1200" b="0" i="0">
                <a:solidFill>
                  <a:schemeClr val="bg1">
                    <a:lumMod val="50000"/>
                  </a:schemeClr>
                </a:solidFill>
              </a:rPr>
              <a:t>）</a:t>
            </a:r>
          </a:p>
          <a:p>
            <a:pPr marL="0" indent="0"/>
            <a:r>
              <a:rPr lang="zh-CN" altLang="en-US" sz="1200" b="0" i="0">
                <a:solidFill>
                  <a:schemeClr val="bg1">
                    <a:lumMod val="50000"/>
                  </a:schemeClr>
                </a:solidFill>
              </a:rPr>
              <a:t>识别到最近汽车的距离（</a:t>
            </a:r>
            <a:r>
              <a:rPr lang="en-US" altLang="zh-CN" sz="1200" b="0" i="0">
                <a:solidFill>
                  <a:schemeClr val="bg1">
                    <a:lumMod val="50000"/>
                  </a:schemeClr>
                </a:solidFill>
              </a:rPr>
              <a:t>KITTI </a:t>
            </a:r>
            <a:r>
              <a:rPr lang="zh-CN" altLang="en-US" sz="1200" b="0" i="0">
                <a:solidFill>
                  <a:schemeClr val="bg1">
                    <a:lumMod val="50000"/>
                  </a:schemeClr>
                </a:solidFill>
              </a:rPr>
              <a:t>距离）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8035" y="658495"/>
            <a:ext cx="4299585" cy="57531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907415" y="3353435"/>
            <a:ext cx="3853180" cy="68834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noAutofit/>
          </a:bodyPr>
          <a:lstStyle/>
          <a:p>
            <a:pPr marL="0" indent="0"/>
            <a:r>
              <a:rPr lang="zh-CN" altLang="en-US" sz="1200" b="0" i="0">
                <a:solidFill>
                  <a:schemeClr val="bg1">
                    <a:lumMod val="50000"/>
                  </a:schemeClr>
                </a:solidFill>
              </a:rPr>
              <a:t>通用物体分类（</a:t>
            </a:r>
            <a:r>
              <a:rPr lang="en-US" altLang="zh-CN" sz="1200" b="0" i="0">
                <a:solidFill>
                  <a:schemeClr val="bg1">
                    <a:lumMod val="50000"/>
                  </a:schemeClr>
                </a:solidFill>
              </a:rPr>
              <a:t>STL-10, ImageNet, CIFAR-10, Pascal VOC</a:t>
            </a:r>
            <a:r>
              <a:rPr lang="zh-CN" altLang="en-US" sz="1200" b="0" i="0">
                <a:solidFill>
                  <a:schemeClr val="bg1">
                    <a:lumMod val="50000"/>
                  </a:schemeClr>
                </a:solidFill>
              </a:rPr>
              <a:t>）</a:t>
            </a:r>
          </a:p>
          <a:p>
            <a:pPr marL="0" indent="0"/>
            <a:r>
              <a:rPr lang="zh-CN" altLang="en-US" sz="1200" b="0" i="0">
                <a:solidFill>
                  <a:schemeClr val="bg1">
                    <a:lumMod val="50000"/>
                  </a:schemeClr>
                </a:solidFill>
              </a:rPr>
              <a:t>细粒度分类（</a:t>
            </a:r>
            <a:r>
              <a:rPr lang="en-US" altLang="zh-CN" sz="1200" b="0" i="0">
                <a:solidFill>
                  <a:schemeClr val="bg1">
                    <a:lumMod val="50000"/>
                  </a:schemeClr>
                </a:solidFill>
              </a:rPr>
              <a:t>Stanford Cars, Food-101</a:t>
            </a:r>
            <a:r>
              <a:rPr lang="zh-CN" altLang="en-US" sz="1200" b="0" i="0">
                <a:solidFill>
                  <a:schemeClr val="bg1">
                    <a:lumMod val="50000"/>
                  </a:schemeClr>
                </a:solidFill>
              </a:rPr>
              <a:t>）</a:t>
            </a:r>
          </a:p>
          <a:p>
            <a:pPr marL="0" indent="0"/>
            <a:r>
              <a:rPr lang="zh-CN" altLang="en-US" sz="1200" b="0" i="0">
                <a:solidFill>
                  <a:schemeClr val="bg1">
                    <a:lumMod val="50000"/>
                  </a:schemeClr>
                </a:solidFill>
              </a:rPr>
              <a:t>视频动作识别（</a:t>
            </a:r>
            <a:r>
              <a:rPr lang="en-US" altLang="zh-CN" sz="1200" b="0" i="0">
                <a:solidFill>
                  <a:schemeClr val="bg1">
                    <a:lumMod val="50000"/>
                  </a:schemeClr>
                </a:solidFill>
              </a:rPr>
              <a:t>Kinetics700, UCF101</a:t>
            </a:r>
            <a:r>
              <a:rPr lang="zh-CN" altLang="en-US" sz="1200" b="0" i="0">
                <a:solidFill>
                  <a:schemeClr val="bg1">
                    <a:lumMod val="50000"/>
                  </a:schemeClr>
                </a:solidFill>
              </a:rPr>
              <a:t>）</a:t>
            </a:r>
          </a:p>
          <a:p>
            <a:pPr marL="0" indent="0"/>
            <a:endParaRPr lang="zh-CN" altLang="en-US" sz="1200" b="0" i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>
                <a:sym typeface="+mn-ea"/>
              </a:rPr>
              <a:t>实验结果</a:t>
            </a:r>
            <a:endParaRPr 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08125"/>
            <a:ext cx="6355715" cy="4747895"/>
          </a:xfrm>
        </p:spPr>
        <p:txBody>
          <a:bodyPr>
            <a:noAutofit/>
          </a:bodyPr>
          <a:lstStyle/>
          <a:p>
            <a:pPr marL="0" indent="0" fontAlgn="auto">
              <a:lnSpc>
                <a:spcPct val="150000"/>
              </a:lnSpc>
              <a:buNone/>
            </a:pPr>
            <a:r>
              <a:rPr lang="en-US" altLang="zh-CN" sz="2000" b="1"/>
              <a:t>2.</a:t>
            </a:r>
            <a:r>
              <a:rPr lang="zh-CN" altLang="en-US" sz="2000" b="1"/>
              <a:t>数据</a:t>
            </a:r>
            <a:r>
              <a:rPr lang="zh-CN" sz="2000" b="1"/>
              <a:t>效率</a:t>
            </a:r>
          </a:p>
          <a:p>
            <a:pPr marL="0" indent="0" fontAlgn="auto">
              <a:lnSpc>
                <a:spcPct val="150000"/>
              </a:lnSpc>
              <a:buNone/>
            </a:pPr>
            <a:r>
              <a:rPr lang="en-US" altLang="zh-CN" sz="1800"/>
              <a:t>Zero-Shot CLIP ≈ 4-Shot </a:t>
            </a:r>
            <a:r>
              <a:rPr lang="zh-CN" altLang="en-US" sz="1800"/>
              <a:t>线性分类器：</a:t>
            </a:r>
            <a:r>
              <a:rPr lang="en-US" altLang="zh-CN" sz="1800"/>
              <a:t>CLIP</a:t>
            </a:r>
            <a:r>
              <a:rPr lang="zh-CN" altLang="en-US" sz="1800"/>
              <a:t>在没有看到任何一个标注样本的情况下，其</a:t>
            </a:r>
            <a:r>
              <a:rPr lang="zh-CN" altLang="en-US" sz="1800">
                <a:solidFill>
                  <a:srgbClr val="FF0000"/>
                </a:solidFill>
              </a:rPr>
              <a:t>性能约等于一个在每个类别上看了</a:t>
            </a:r>
            <a:r>
              <a:rPr lang="en-US" altLang="zh-CN" sz="1800">
                <a:solidFill>
                  <a:srgbClr val="FF0000"/>
                </a:solidFill>
              </a:rPr>
              <a:t>4</a:t>
            </a:r>
            <a:r>
              <a:rPr lang="zh-CN" altLang="en-US" sz="1800">
                <a:solidFill>
                  <a:srgbClr val="FF0000"/>
                </a:solidFill>
              </a:rPr>
              <a:t>个标注样本后训练出的线性分类器</a:t>
            </a:r>
            <a:r>
              <a:rPr lang="zh-CN" altLang="en-US" sz="1800"/>
              <a:t>。</a:t>
            </a:r>
          </a:p>
          <a:p>
            <a:pPr marL="0" indent="0" fontAlgn="auto">
              <a:lnSpc>
                <a:spcPct val="150000"/>
              </a:lnSpc>
              <a:buNone/>
            </a:pPr>
            <a:r>
              <a:rPr lang="zh-CN" altLang="en-US" sz="1800"/>
              <a:t>超越</a:t>
            </a:r>
            <a:r>
              <a:rPr lang="en-US" altLang="zh-CN" sz="1800"/>
              <a:t>16-Shot</a:t>
            </a:r>
            <a:r>
              <a:rPr lang="zh-CN" altLang="en-US" sz="1800"/>
              <a:t>：在某些任务上，</a:t>
            </a:r>
            <a:r>
              <a:rPr lang="en-US" altLang="zh-CN" sz="1800"/>
              <a:t>Zero-Shot CLIP</a:t>
            </a:r>
            <a:r>
              <a:rPr lang="zh-CN" altLang="en-US" sz="1800"/>
              <a:t>的性能甚至超过了</a:t>
            </a:r>
            <a:r>
              <a:rPr lang="en-US" altLang="zh-CN" sz="1800"/>
              <a:t>16-Shot</a:t>
            </a:r>
            <a:r>
              <a:rPr lang="zh-CN" altLang="en-US" sz="1800"/>
              <a:t>的线性分类器。</a:t>
            </a:r>
          </a:p>
          <a:p>
            <a:pPr marL="0" indent="0" fontAlgn="auto">
              <a:lnSpc>
                <a:spcPct val="150000"/>
              </a:lnSpc>
              <a:buNone/>
            </a:pPr>
            <a:r>
              <a:rPr lang="zh-CN" altLang="en-US" sz="1800"/>
              <a:t>语义捷径：自然语言为模型提供了丰富的先验知识，使其能够通过</a:t>
            </a:r>
            <a:r>
              <a:rPr lang="en-US" altLang="zh-CN" sz="1800"/>
              <a:t>“</a:t>
            </a:r>
            <a:r>
              <a:rPr lang="zh-CN" altLang="en-US" sz="1800"/>
              <a:t>语义</a:t>
            </a:r>
            <a:r>
              <a:rPr lang="en-US" altLang="zh-CN" sz="1800"/>
              <a:t>”</a:t>
            </a:r>
            <a:r>
              <a:rPr lang="zh-CN" altLang="en-US" sz="1800"/>
              <a:t>直接理解类别，而不需要从零开始学习。</a:t>
            </a:r>
          </a:p>
          <a:p>
            <a:pPr marL="0" indent="0">
              <a:buNone/>
            </a:pPr>
            <a:endParaRPr lang="zh-CN" sz="180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8050" y="1036320"/>
            <a:ext cx="4614545" cy="52197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>
                <a:sym typeface="+mn-ea"/>
              </a:rPr>
              <a:t>实验结果</a:t>
            </a:r>
            <a:endParaRPr 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08125"/>
            <a:ext cx="5097780" cy="4747895"/>
          </a:xfrm>
        </p:spPr>
        <p:txBody>
          <a:bodyPr>
            <a:noAutofit/>
          </a:bodyPr>
          <a:lstStyle/>
          <a:p>
            <a:pPr marL="0" indent="0" fontAlgn="auto">
              <a:lnSpc>
                <a:spcPct val="150000"/>
              </a:lnSpc>
              <a:buNone/>
            </a:pPr>
            <a:r>
              <a:rPr lang="en-US" altLang="zh-CN" sz="2000" b="1"/>
              <a:t>3.</a:t>
            </a:r>
            <a:r>
              <a:rPr lang="zh-CN" sz="2000" b="1"/>
              <a:t>训练效率</a:t>
            </a:r>
          </a:p>
          <a:p>
            <a:pPr marL="0" indent="0" fontAlgn="auto">
              <a:lnSpc>
                <a:spcPct val="150000"/>
              </a:lnSpc>
              <a:buNone/>
            </a:pPr>
            <a:r>
              <a:rPr lang="zh-CN" sz="1800">
                <a:sym typeface="+mn-ea"/>
              </a:rPr>
              <a:t>将训练目标从预测图像的准确描述（生成式）改为判断图像与文本是否匹配（对比学习），训练效率提升了约</a:t>
            </a:r>
            <a:r>
              <a:rPr lang="zh-CN" sz="1800">
                <a:solidFill>
                  <a:srgbClr val="FF0000"/>
                </a:solidFill>
                <a:sym typeface="+mn-ea"/>
              </a:rPr>
              <a:t>4倍</a:t>
            </a:r>
            <a:endParaRPr lang="zh-CN" sz="1800" i="0"/>
          </a:p>
          <a:p>
            <a:pPr marL="0" indent="0">
              <a:buNone/>
            </a:pPr>
            <a:endParaRPr lang="zh-CN" sz="2000"/>
          </a:p>
          <a:p>
            <a:pPr marL="0" indent="0">
              <a:buNone/>
            </a:pPr>
            <a:endParaRPr lang="zh-CN" sz="200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200" y="1691005"/>
            <a:ext cx="5207000" cy="385635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>
                <a:sym typeface="+mn-ea"/>
              </a:rPr>
              <a:t>实验结果</a:t>
            </a:r>
            <a:endParaRPr 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08125"/>
            <a:ext cx="9048115" cy="4747895"/>
          </a:xfrm>
        </p:spPr>
        <p:txBody>
          <a:bodyPr>
            <a:noAutofit/>
          </a:bodyPr>
          <a:lstStyle/>
          <a:p>
            <a:pPr marL="0" indent="0" fontAlgn="auto">
              <a:lnSpc>
                <a:spcPct val="150000"/>
              </a:lnSpc>
              <a:buNone/>
            </a:pPr>
            <a:r>
              <a:rPr lang="en-US" altLang="zh-CN" sz="2000" b="1"/>
              <a:t>4.</a:t>
            </a:r>
            <a:r>
              <a:rPr lang="zh-CN" sz="2000" b="1"/>
              <a:t>分布外鲁棒性</a:t>
            </a:r>
          </a:p>
          <a:p>
            <a:pPr marL="0" indent="0" fontAlgn="auto">
              <a:lnSpc>
                <a:spcPct val="150000"/>
              </a:lnSpc>
              <a:buNone/>
            </a:pPr>
            <a:r>
              <a:rPr lang="zh-CN" altLang="en-US" sz="1800">
                <a:sym typeface="+mn-ea"/>
              </a:rPr>
              <a:t>标准</a:t>
            </a:r>
            <a:r>
              <a:rPr lang="en-US" altLang="zh-CN" sz="1800">
                <a:sym typeface="+mn-ea"/>
              </a:rPr>
              <a:t>ImageNet</a:t>
            </a:r>
            <a:r>
              <a:rPr lang="zh-CN" altLang="en-US" sz="1800">
                <a:sym typeface="+mn-ea"/>
              </a:rPr>
              <a:t>模型在遇到分布外数据（</a:t>
            </a:r>
            <a:r>
              <a:rPr lang="en-US" altLang="zh-CN" sz="1800">
                <a:sym typeface="+mn-ea"/>
              </a:rPr>
              <a:t>Natural Distribution Shift</a:t>
            </a:r>
            <a:r>
              <a:rPr lang="zh-CN" altLang="en-US" sz="1800">
                <a:sym typeface="+mn-ea"/>
              </a:rPr>
              <a:t>）时，性能会急剧下降。</a:t>
            </a:r>
          </a:p>
          <a:p>
            <a:pPr marL="0" indent="0" fontAlgn="auto">
              <a:lnSpc>
                <a:spcPct val="150000"/>
              </a:lnSpc>
              <a:buNone/>
            </a:pPr>
            <a:r>
              <a:rPr lang="en-US" altLang="zh-CN" sz="2000"/>
              <a:t>Zero-Shot CLIP</a:t>
            </a:r>
            <a:r>
              <a:rPr lang="zh-CN" altLang="en-US" sz="2000"/>
              <a:t>：表现出</a:t>
            </a:r>
            <a:r>
              <a:rPr lang="zh-CN" altLang="en-US" sz="2000">
                <a:solidFill>
                  <a:srgbClr val="FF0000"/>
                </a:solidFill>
              </a:rPr>
              <a:t>极强的鲁棒性</a:t>
            </a:r>
            <a:r>
              <a:rPr lang="zh-CN" altLang="en-US" sz="2000"/>
              <a:t>，性能差异最大达到</a:t>
            </a:r>
            <a:r>
              <a:rPr lang="en-US" altLang="zh-CN" sz="2000">
                <a:solidFill>
                  <a:srgbClr val="FF0000"/>
                </a:solidFill>
              </a:rPr>
              <a:t>74.4%</a:t>
            </a:r>
            <a:endParaRPr lang="en-US" altLang="zh-CN" sz="2000"/>
          </a:p>
          <a:p>
            <a:pPr marL="0" indent="0">
              <a:buNone/>
            </a:pPr>
            <a:endParaRPr lang="zh-CN" sz="200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805" y="3352800"/>
            <a:ext cx="7941945" cy="315785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9334500" y="3435985"/>
            <a:ext cx="2492375" cy="307467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noAutofit/>
          </a:bodyPr>
          <a:lstStyle/>
          <a:p>
            <a:pPr marL="0" indent="0">
              <a:buNone/>
            </a:pPr>
            <a:endParaRPr lang="zh-CN" altLang="en-US" sz="140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</a:rPr>
              <a:t>互联网抓取的数据是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</a:rPr>
              <a:t>“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</a:rPr>
              <a:t>噪声数据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</a:rPr>
              <a:t>”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</a:rPr>
              <a:t>，其中包含大量不精确、不相关的图像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</a:rPr>
              <a:t>-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</a:rPr>
              <a:t>文本对。模型能够从这种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</a:rPr>
              <a:t>“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</a:rPr>
              <a:t>弱监督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</a:rPr>
              <a:t>”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</a:rPr>
              <a:t>信号中学习，本身就证明了其算法的鲁棒性。</a:t>
            </a:r>
          </a:p>
          <a:p>
            <a:pPr marL="0" indent="0">
              <a:buNone/>
            </a:pPr>
            <a:endParaRPr lang="zh-CN" altLang="en-US" sz="140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zh-CN" altLang="en-US" sz="140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</a:rPr>
              <a:t>如果将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</a:rPr>
              <a:t>CLIP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</a:rPr>
              <a:t>在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</a:rPr>
              <a:t>ImageNet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</a:rPr>
              <a:t>上进行</a:t>
            </a:r>
            <a:r>
              <a:rPr lang="zh-CN" altLang="en-US" sz="1400">
                <a:solidFill>
                  <a:srgbClr val="FF0000"/>
                </a:solidFill>
              </a:rPr>
              <a:t>微调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</a:rPr>
              <a:t>，虽然其在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</a:rPr>
              <a:t>ImageNet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</a:rPr>
              <a:t>验证集上的准确率会提升，但</a:t>
            </a:r>
            <a:r>
              <a:rPr lang="zh-CN" altLang="en-US" sz="1400">
                <a:solidFill>
                  <a:srgbClr val="FF0000"/>
                </a:solidFill>
              </a:rPr>
              <a:t>分布外鲁棒性反而会下降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>
                <a:sym typeface="+mn-ea"/>
              </a:rPr>
              <a:t>实验结果</a:t>
            </a:r>
            <a:endParaRPr 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rcRect t="40067"/>
          <a:stretch>
            <a:fillRect/>
          </a:stretch>
        </p:blipFill>
        <p:spPr>
          <a:xfrm>
            <a:off x="6489065" y="633095"/>
            <a:ext cx="5316220" cy="358711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rcRect r="10522" b="59799"/>
          <a:stretch>
            <a:fillRect/>
          </a:stretch>
        </p:blipFill>
        <p:spPr>
          <a:xfrm>
            <a:off x="568960" y="2355850"/>
            <a:ext cx="6231890" cy="3152140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8960" y="1812925"/>
            <a:ext cx="10514965" cy="474789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/>
              <a:t>5.</a:t>
            </a:r>
            <a:r>
              <a:rPr lang="zh-CN" altLang="en-US" sz="2000" b="1"/>
              <a:t>规模效应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7096760" y="4413885"/>
            <a:ext cx="4562475" cy="206121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 anchor="t">
            <a:spAutoFit/>
          </a:bodyPr>
          <a:lstStyle/>
          <a:p>
            <a:r>
              <a:rPr lang="zh-CN" altLang="en-US" sz="1600">
                <a:solidFill>
                  <a:schemeClr val="bg1">
                    <a:lumMod val="50000"/>
                  </a:schemeClr>
                </a:solidFill>
              </a:rPr>
              <a:t>零样本</a:t>
            </a:r>
            <a:r>
              <a:rPr lang="en-US" altLang="zh-CN" sz="1600">
                <a:solidFill>
                  <a:schemeClr val="bg1">
                    <a:lumMod val="50000"/>
                  </a:schemeClr>
                </a:solidFill>
              </a:rPr>
              <a:t> CLIP </a:t>
            </a:r>
            <a:r>
              <a:rPr lang="zh-CN" altLang="en-US" sz="1600">
                <a:solidFill>
                  <a:schemeClr val="bg1">
                    <a:lumMod val="50000"/>
                  </a:schemeClr>
                </a:solidFill>
              </a:rPr>
              <a:t>的性能通常只能与</a:t>
            </a:r>
            <a:r>
              <a:rPr lang="en-US" altLang="zh-CN" sz="1600">
                <a:solidFill>
                  <a:schemeClr val="bg1">
                    <a:lumMod val="50000"/>
                  </a:schemeClr>
                </a:solidFill>
              </a:rPr>
              <a:t> ResNet-50 </a:t>
            </a:r>
            <a:r>
              <a:rPr lang="zh-CN" altLang="en-US" sz="1600">
                <a:solidFill>
                  <a:schemeClr val="bg1">
                    <a:lumMod val="50000"/>
                  </a:schemeClr>
                </a:solidFill>
              </a:rPr>
              <a:t>特征上的线性分类器的监督基线竞争。该基线现在远低于总体</a:t>
            </a:r>
            <a:r>
              <a:rPr lang="en-US" altLang="zh-CN" sz="1600">
                <a:solidFill>
                  <a:schemeClr val="bg1">
                    <a:lumMod val="50000"/>
                  </a:schemeClr>
                </a:solidFill>
              </a:rPr>
              <a:t> SOTA</a:t>
            </a:r>
            <a:r>
              <a:rPr lang="zh-CN" altLang="en-US" sz="1600">
                <a:solidFill>
                  <a:schemeClr val="bg1">
                    <a:lumMod val="50000"/>
                  </a:schemeClr>
                </a:solidFill>
              </a:rPr>
              <a:t>。提高</a:t>
            </a:r>
            <a:r>
              <a:rPr lang="en-US" altLang="zh-CN" sz="1600">
                <a:solidFill>
                  <a:schemeClr val="bg1">
                    <a:lumMod val="50000"/>
                  </a:schemeClr>
                </a:solidFill>
              </a:rPr>
              <a:t> CLIP </a:t>
            </a:r>
            <a:r>
              <a:rPr lang="zh-CN" altLang="en-US" sz="1600">
                <a:solidFill>
                  <a:schemeClr val="bg1">
                    <a:lumMod val="50000"/>
                  </a:schemeClr>
                </a:solidFill>
              </a:rPr>
              <a:t>的任务学习和迁移能力仍需要做大量工作。我们估计</a:t>
            </a:r>
            <a:r>
              <a:rPr lang="zh-CN" altLang="en-US" sz="1600">
                <a:solidFill>
                  <a:srgbClr val="FF0000"/>
                </a:solidFill>
              </a:rPr>
              <a:t>零样本</a:t>
            </a:r>
            <a:r>
              <a:rPr lang="en-US" altLang="zh-CN" sz="1600">
                <a:solidFill>
                  <a:srgbClr val="FF0000"/>
                </a:solidFill>
              </a:rPr>
              <a:t> CLIP </a:t>
            </a:r>
            <a:r>
              <a:rPr lang="zh-CN" altLang="en-US" sz="1600">
                <a:solidFill>
                  <a:srgbClr val="FF0000"/>
                </a:solidFill>
              </a:rPr>
              <a:t>需要将计算量增加约</a:t>
            </a:r>
            <a:r>
              <a:rPr lang="en-US" altLang="zh-CN" sz="1600">
                <a:solidFill>
                  <a:srgbClr val="FF0000"/>
                </a:solidFill>
              </a:rPr>
              <a:t> 1000 </a:t>
            </a:r>
            <a:r>
              <a:rPr lang="zh-CN" altLang="en-US" sz="1600">
                <a:solidFill>
                  <a:srgbClr val="FF0000"/>
                </a:solidFill>
              </a:rPr>
              <a:t>倍才能在我们的评估套件中达到整体</a:t>
            </a:r>
            <a:r>
              <a:rPr lang="en-US" altLang="zh-CN" sz="1600">
                <a:solidFill>
                  <a:srgbClr val="FF0000"/>
                </a:solidFill>
              </a:rPr>
              <a:t> SOTA </a:t>
            </a:r>
            <a:r>
              <a:rPr lang="zh-CN" altLang="en-US" sz="1600">
                <a:solidFill>
                  <a:srgbClr val="FF0000"/>
                </a:solidFill>
              </a:rPr>
              <a:t>性能</a:t>
            </a:r>
            <a:r>
              <a:rPr lang="zh-CN" altLang="en-US" sz="1600">
                <a:solidFill>
                  <a:schemeClr val="bg1">
                    <a:lumMod val="50000"/>
                  </a:schemeClr>
                </a:solidFill>
              </a:rPr>
              <a:t>。使用当前的硬件进行训练是不可行的。有必要进一步研究提高</a:t>
            </a:r>
            <a:r>
              <a:rPr lang="en-US" altLang="zh-CN" sz="1600">
                <a:solidFill>
                  <a:schemeClr val="bg1">
                    <a:lumMod val="50000"/>
                  </a:schemeClr>
                </a:solidFill>
              </a:rPr>
              <a:t> CLIP </a:t>
            </a:r>
            <a:r>
              <a:rPr lang="zh-CN" altLang="en-US" sz="1600">
                <a:solidFill>
                  <a:schemeClr val="bg1">
                    <a:lumMod val="50000"/>
                  </a:schemeClr>
                </a:solidFill>
              </a:rPr>
              <a:t>的计算和数据效率。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1371600" y="920115"/>
            <a:ext cx="8642350" cy="5106670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indent="0"/>
            <a:r>
              <a:rPr lang="zh-CN" altLang="en-US" sz="1600" b="0" i="0">
                <a:solidFill>
                  <a:srgbClr val="0F1115"/>
                </a:solidFill>
                <a:latin typeface="quote-cjk-patch"/>
                <a:ea typeface="宋体" panose="02010600030101010101" pitchFamily="2" charset="-122"/>
              </a:rPr>
              <a:t>如果预训练模型在你的特定任务上表现不佳，而你有一些标注数据，可以考虑对模型进行微调。如今，有许多参数高效微调（PEFT）方法，例如提示学习（Prompt Learning），可以让你只更新一小部分参数，就能使模型很好地适应你的下游任务，这大大降低了计算成本。</a:t>
            </a:r>
          </a:p>
          <a:p>
            <a:pPr marL="0" indent="0"/>
            <a:endParaRPr lang="zh-CN" altLang="en-US" sz="1600" b="0" i="0">
              <a:solidFill>
                <a:srgbClr val="0F1115"/>
              </a:solidFill>
              <a:latin typeface="quote-cjk-patch"/>
              <a:ea typeface="宋体" panose="02010600030101010101" pitchFamily="2" charset="-122"/>
            </a:endParaRPr>
          </a:p>
          <a:p>
            <a:pPr marL="0" indent="0"/>
            <a:r>
              <a:rPr lang="zh-CN" altLang="en-US" sz="1600" b="0" i="0">
                <a:solidFill>
                  <a:srgbClr val="0F1115"/>
                </a:solidFill>
                <a:latin typeface="quote-cjk-patch"/>
                <a:ea typeface="宋体" panose="02010600030101010101" pitchFamily="2" charset="-122"/>
              </a:rPr>
              <a:t>deepseek/chatECNU OCR 对比MinerU</a:t>
            </a:r>
          </a:p>
          <a:p>
            <a:pPr marL="0" indent="0"/>
            <a:endParaRPr lang="zh-CN" altLang="en-US" sz="1600" b="0" i="0">
              <a:solidFill>
                <a:srgbClr val="0F1115"/>
              </a:solidFill>
              <a:latin typeface="quote-cjk-patch"/>
              <a:ea typeface="宋体" panose="02010600030101010101" pitchFamily="2" charset="-122"/>
            </a:endParaRPr>
          </a:p>
          <a:p>
            <a:pPr marL="0" indent="0"/>
            <a:r>
              <a:rPr lang="zh-CN" altLang="en-US" sz="1600" b="0" i="0">
                <a:solidFill>
                  <a:srgbClr val="0F1115"/>
                </a:solidFill>
                <a:latin typeface="quote-cjk-patch"/>
                <a:ea typeface="宋体" panose="02010600030101010101" pitchFamily="2" charset="-122"/>
              </a:rPr>
              <a:t>图图相似度匹配解决不同环境下的图片样本的标准化问题</a:t>
            </a:r>
          </a:p>
          <a:p>
            <a:pPr marL="0" indent="0"/>
            <a:endParaRPr lang="zh-CN" altLang="en-US" sz="1600" b="0" i="0">
              <a:solidFill>
                <a:srgbClr val="0F1115"/>
              </a:solidFill>
              <a:latin typeface="quote-cjk-patch"/>
              <a:ea typeface="宋体" panose="02010600030101010101" pitchFamily="2" charset="-122"/>
            </a:endParaRPr>
          </a:p>
          <a:p>
            <a:pPr marL="0" indent="0"/>
            <a:r>
              <a:rPr lang="en-US" altLang="zh-CN" sz="1600" b="0" i="0">
                <a:solidFill>
                  <a:srgbClr val="0F1115"/>
                </a:solidFill>
                <a:latin typeface="quote-cjk-patch"/>
                <a:ea typeface="宋体" panose="02010600030101010101" pitchFamily="2" charset="-122"/>
              </a:rPr>
              <a:t>RAG+</a:t>
            </a:r>
            <a:r>
              <a:rPr lang="zh-CN" altLang="en-US" sz="1600" b="0" i="0">
                <a:solidFill>
                  <a:srgbClr val="0F1115"/>
                </a:solidFill>
                <a:latin typeface="quote-cjk-patch"/>
                <a:ea typeface="宋体" panose="02010600030101010101" pitchFamily="2" charset="-122"/>
              </a:rPr>
              <a:t>多模态：</a:t>
            </a:r>
            <a:r>
              <a:rPr lang="en-US" altLang="zh-CN" sz="1600" b="0" i="0">
                <a:solidFill>
                  <a:srgbClr val="0F1115"/>
                </a:solidFill>
                <a:latin typeface="quote-cjk-patch"/>
                <a:ea typeface="宋体" panose="02010600030101010101" pitchFamily="2" charset="-122"/>
              </a:rPr>
              <a:t>OCRshuruwendang/</a:t>
            </a:r>
            <a:r>
              <a:rPr lang="zh-CN" altLang="en-US" sz="1600" b="0" i="0">
                <a:solidFill>
                  <a:srgbClr val="0F1115"/>
                </a:solidFill>
                <a:latin typeface="quote-cjk-patch"/>
                <a:ea typeface="宋体" panose="02010600030101010101" pitchFamily="2" charset="-122"/>
              </a:rPr>
              <a:t>书籍，自动生成</a:t>
            </a:r>
            <a:r>
              <a:rPr lang="en-US" altLang="zh-CN" sz="1600" b="0" i="0">
                <a:solidFill>
                  <a:srgbClr val="0F1115"/>
                </a:solidFill>
                <a:latin typeface="quote-cjk-patch"/>
                <a:ea typeface="宋体" panose="02010600030101010101" pitchFamily="2" charset="-122"/>
              </a:rPr>
              <a:t>RAG</a:t>
            </a:r>
            <a:r>
              <a:rPr lang="zh-CN" altLang="en-US" sz="1600" b="0" i="0">
                <a:solidFill>
                  <a:srgbClr val="0F1115"/>
                </a:solidFill>
                <a:latin typeface="quote-cjk-patch"/>
                <a:ea typeface="宋体" panose="02010600030101010101" pitchFamily="2" charset="-122"/>
              </a:rPr>
              <a:t>问题回答对以构建多模态</a:t>
            </a:r>
            <a:r>
              <a:rPr lang="en-US" altLang="zh-CN" sz="1600" b="0" i="0">
                <a:solidFill>
                  <a:srgbClr val="0F1115"/>
                </a:solidFill>
                <a:latin typeface="quote-cjk-patch"/>
                <a:ea typeface="宋体" panose="02010600030101010101" pitchFamily="2" charset="-122"/>
              </a:rPr>
              <a:t>RAG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TQ5Zjk0NWRiZjBlOTI2MWJiNzY0YWM2NWI2MTQ5ZWM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1911</Words>
  <Application>Microsoft Macintosh PowerPoint</Application>
  <PresentationFormat>宽屏</PresentationFormat>
  <Paragraphs>124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2" baseType="lpstr">
      <vt:lpstr>quote-cjk-patch</vt:lpstr>
      <vt:lpstr>Arial</vt:lpstr>
      <vt:lpstr>Calibri</vt:lpstr>
      <vt:lpstr>WPS</vt:lpstr>
      <vt:lpstr>Learning Transferable Visual Models From Natural Language Supervision</vt:lpstr>
      <vt:lpstr>本文主要工作</vt:lpstr>
      <vt:lpstr>背景 传统计算机视觉模型的局限性 现代预训练方法在NLP领域的突破 </vt:lpstr>
      <vt:lpstr>背景 传统计算机视觉模型的局限性 现代预训练方法在NLP领域的突破 </vt:lpstr>
      <vt:lpstr>问题 可否将现代预训练方法用于计算机视觉领域，以解决上述问题？</vt:lpstr>
      <vt:lpstr>CLIP模型</vt:lpstr>
      <vt:lpstr>传统CNN模型（比如ResNet）</vt:lpstr>
      <vt:lpstr>CLIP模型</vt:lpstr>
      <vt:lpstr>CLIP模型：核心算法流程</vt:lpstr>
      <vt:lpstr>CLIP模型：核心算法流程</vt:lpstr>
      <vt:lpstr>CLIP模型：核心算法伪代码</vt:lpstr>
      <vt:lpstr>实验结果</vt:lpstr>
      <vt:lpstr>实验结果</vt:lpstr>
      <vt:lpstr>实验结果</vt:lpstr>
      <vt:lpstr>实验结果</vt:lpstr>
      <vt:lpstr>实验结果</vt:lpstr>
      <vt:lpstr>实验结果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Learning Transferable Visual Models From Natural Language Supervision</dc:title>
  <dc:creator>啊咴</dc:creator>
  <cp:lastModifiedBy>吴敏</cp:lastModifiedBy>
  <cp:revision>101</cp:revision>
  <dcterms:created xsi:type="dcterms:W3CDTF">2023-08-09T12:44:00Z</dcterms:created>
  <dcterms:modified xsi:type="dcterms:W3CDTF">2025-10-30T09:34:01Z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2052-12.1.0.23125</vt:lpwstr>
  </property>
</Properties>
</file>