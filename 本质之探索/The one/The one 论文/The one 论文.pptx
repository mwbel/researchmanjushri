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482" r:id="rId2"/>
    <p:sldId id="479" r:id="rId3"/>
    <p:sldId id="48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  <a:srgbClr val="D34C4C"/>
    <a:srgbClr val="FF0000"/>
    <a:srgbClr val="B40028"/>
    <a:srgbClr val="00FDFF"/>
    <a:srgbClr val="FF40FF"/>
    <a:srgbClr val="00FF00"/>
    <a:srgbClr val="C0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25" autoAdjust="0"/>
    <p:restoredTop sz="96405"/>
  </p:normalViewPr>
  <p:slideViewPr>
    <p:cSldViewPr snapToGrid="0">
      <p:cViewPr varScale="1">
        <p:scale>
          <a:sx n="92" d="100"/>
          <a:sy n="92" d="100"/>
        </p:scale>
        <p:origin x="976" y="184"/>
      </p:cViewPr>
      <p:guideLst/>
    </p:cSldViewPr>
  </p:slideViewPr>
  <p:outlineViewPr>
    <p:cViewPr>
      <p:scale>
        <a:sx n="33" d="100"/>
        <a:sy n="33" d="100"/>
      </p:scale>
      <p:origin x="0" y="-17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08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4435F-2CFF-4B1D-8A86-E0615372DB2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667D9-58AC-4763-A28B-7E7CD1FEDB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85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D4C6A7-C246-E54F-ADA4-7F65B7906E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10528"/>
            <a:ext cx="12192000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8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845E5-840B-864C-A791-8098982F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B1EEE8-D6F5-C745-B2D0-BBE02C95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C91E-1DEA-43D5-9CFE-B86A6D6708B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8C5D96-F76E-304F-B382-10DAAA45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BE9550-4B85-7B42-80A5-7EA7F9BB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8DDB-1A49-46D2-BF86-FCD2EED8AA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B92F28D7-183A-D945-91C2-E8885F3C8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15" b="30939"/>
          <a:stretch/>
        </p:blipFill>
        <p:spPr>
          <a:xfrm>
            <a:off x="0" y="6356352"/>
            <a:ext cx="12192000" cy="50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8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8" y="278946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8D6D01-C5C6-A54E-B721-10F228365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10528"/>
            <a:ext cx="12192000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8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8" y="278946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60" y="1856104"/>
            <a:ext cx="10723880" cy="444309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4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8" y="278946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1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8" y="278946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5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C91E-1DEA-43D5-9CFE-B86A6D6708B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8DDB-1A49-46D2-BF86-FCD2EED8A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67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C91E-1DEA-43D5-9CFE-B86A6D6708B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8DDB-1A49-46D2-BF86-FCD2EED8A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05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C91E-1DEA-43D5-9CFE-B86A6D6708B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8DDB-1A49-46D2-BF86-FCD2EED8A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68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DFC7C91E-1DEA-43D5-9CFE-B86A6D6708B4}" type="datetimeFigureOut">
              <a:rPr lang="zh-CN" altLang="en-US" smtClean="0"/>
              <a:pPr/>
              <a:t>2023/6/14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1DE38DDB-1A49-46D2-BF86-FCD2EED8AA9C}" type="slidenum">
              <a:rPr lang="zh-CN" altLang="en-US" smtClean="0"/>
              <a:pPr/>
              <a:t>‹#›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26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C91E-1DEA-43D5-9CFE-B86A6D6708B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8DDB-1A49-46D2-BF86-FCD2EED8A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599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148B-10A1-A344-AF39-E750851D3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1E4A52-2EB8-C241-9A51-09FB251811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37D02A-AC8F-3B4B-96B1-06EEDF9B2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4ADC45-D1AC-B348-BFCE-CDEA752B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957F65-8125-4048-8E46-B69B23C9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8A98A6-5B8C-064D-8456-D88F8FB2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52E38A8-F578-004B-9E73-EF209CB8FD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53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7C91E-1DEA-43D5-9CFE-B86A6D6708B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38DDB-1A49-46D2-BF86-FCD2EED8A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24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73" r:id="rId3"/>
    <p:sldLayoutId id="2147483677" r:id="rId4"/>
    <p:sldLayoutId id="2147483676" r:id="rId5"/>
    <p:sldLayoutId id="2147483674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KaiTi" panose="02010609060101010101" pitchFamily="49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KaiTi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itchFamily="2" charset="2"/>
        <a:buChar char="Ø"/>
        <a:defRPr sz="2400" kern="1200">
          <a:solidFill>
            <a:schemeClr val="tx1"/>
          </a:solidFill>
          <a:latin typeface="Times New Roman" panose="02020603050405020304" pitchFamily="18" charset="0"/>
          <a:ea typeface="KaiTi" panose="02010609060101010101" pitchFamily="49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KaiTi" panose="02010609060101010101" pitchFamily="49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KaiTi" panose="02010609060101010101" pitchFamily="49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KaiTi" panose="02010609060101010101" pitchFamily="49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BF98E-6481-6A4D-A172-6A4E669A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九识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2709B4-18BD-0C47-B108-8AF66C50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前五识：眼识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耳识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鼻识</a:t>
            </a:r>
            <a:r>
              <a:rPr lang="en-US" altLang="zh-CN" dirty="0"/>
              <a:t>	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舌识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身识</a:t>
            </a:r>
          </a:p>
          <a:p>
            <a:pPr marL="514350" indent="-514350">
              <a:buFont typeface="+mj-ea"/>
              <a:buAutoNum type="circleNumDbPlain" startAt="6"/>
            </a:pPr>
            <a:r>
              <a:rPr lang="zh-CN" altLang="en-US" dirty="0"/>
              <a:t>第六识：意识</a:t>
            </a:r>
            <a:r>
              <a:rPr lang="en-US" altLang="zh-CN" dirty="0"/>
              <a:t>	</a:t>
            </a:r>
            <a:r>
              <a:rPr lang="zh-CN" altLang="en-US" dirty="0"/>
              <a:t>   </a:t>
            </a:r>
            <a:r>
              <a:rPr lang="en-US" altLang="zh-CN" dirty="0"/>
              <a:t>---</a:t>
            </a:r>
            <a:r>
              <a:rPr lang="zh-CN" altLang="en-US" dirty="0"/>
              <a:t> 分别</a:t>
            </a:r>
            <a:endParaRPr lang="en-US" altLang="zh-CN" dirty="0"/>
          </a:p>
          <a:p>
            <a:pPr marL="514350" indent="-514350">
              <a:buFont typeface="+mj-ea"/>
              <a:buAutoNum type="circleNumDbPlain" startAt="6"/>
            </a:pPr>
            <a:r>
              <a:rPr lang="zh-CN" altLang="en-US" dirty="0"/>
              <a:t>第七识：末那识  </a:t>
            </a:r>
            <a:r>
              <a:rPr lang="en-US" altLang="zh-CN" dirty="0"/>
              <a:t>---</a:t>
            </a:r>
            <a:r>
              <a:rPr lang="zh-CN" altLang="en-US" dirty="0"/>
              <a:t> 我执</a:t>
            </a:r>
            <a:endParaRPr lang="en-US" altLang="zh-CN" dirty="0"/>
          </a:p>
          <a:p>
            <a:pPr marL="514350" indent="-514350">
              <a:buFont typeface="+mj-ea"/>
              <a:buAutoNum type="circleNumDbPlain" startAt="6"/>
            </a:pPr>
            <a:r>
              <a:rPr lang="zh-CN" altLang="en-US" dirty="0"/>
              <a:t>第八识：阿赖耶识 </a:t>
            </a:r>
            <a:r>
              <a:rPr lang="en-US" altLang="zh-CN" dirty="0"/>
              <a:t>---</a:t>
            </a:r>
            <a:r>
              <a:rPr lang="zh-CN" altLang="en-US" dirty="0"/>
              <a:t> 心识</a:t>
            </a:r>
            <a:endParaRPr lang="en-US" altLang="zh-CN" dirty="0"/>
          </a:p>
          <a:p>
            <a:pPr marL="514350" indent="-514350">
              <a:buFont typeface="+mj-ea"/>
              <a:buAutoNum type="circleNumDbPlain" startAt="6"/>
            </a:pPr>
            <a:r>
              <a:rPr lang="zh-CN" altLang="en-US" dirty="0"/>
              <a:t>第九识：阿摩罗识 </a:t>
            </a:r>
            <a:r>
              <a:rPr lang="en-US" altLang="zh-CN" dirty="0"/>
              <a:t>---</a:t>
            </a:r>
            <a:r>
              <a:rPr lang="zh-CN" altLang="en-US" dirty="0"/>
              <a:t> 自性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05459F-C9A6-344C-9A4F-AF795754DE89}"/>
              </a:ext>
            </a:extLst>
          </p:cNvPr>
          <p:cNvSpPr txBox="1"/>
          <p:nvPr/>
        </p:nvSpPr>
        <p:spPr>
          <a:xfrm>
            <a:off x="5340815" y="2973279"/>
            <a:ext cx="1719740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ea typeface="KaiTi" panose="02010609060101010101" pitchFamily="49" charset="-122"/>
                <a:cs typeface="Times New Roman" panose="02020603050405020304" pitchFamily="18" charset="0"/>
              </a:rPr>
              <a:t>成所作智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FD01B8-FE5D-3E43-B8B6-0345D11DCBC2}"/>
              </a:ext>
            </a:extLst>
          </p:cNvPr>
          <p:cNvSpPr txBox="1"/>
          <p:nvPr/>
        </p:nvSpPr>
        <p:spPr>
          <a:xfrm>
            <a:off x="5340815" y="4258925"/>
            <a:ext cx="1719740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ea typeface="KaiTi" panose="02010609060101010101" pitchFamily="49" charset="-122"/>
                <a:cs typeface="Times New Roman" panose="02020603050405020304" pitchFamily="18" charset="0"/>
              </a:rPr>
              <a:t>妙观察智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51345B-085E-5F48-8F69-815D93499C89}"/>
              </a:ext>
            </a:extLst>
          </p:cNvPr>
          <p:cNvSpPr txBox="1"/>
          <p:nvPr/>
        </p:nvSpPr>
        <p:spPr>
          <a:xfrm>
            <a:off x="5340816" y="5763927"/>
            <a:ext cx="1719742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ea typeface="KaiTi" panose="02010609060101010101" pitchFamily="49" charset="-122"/>
                <a:cs typeface="Times New Roman" panose="02020603050405020304" pitchFamily="18" charset="0"/>
              </a:rPr>
              <a:t>法界体性智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7AFFEF-EBF9-2B48-B0F3-F4BDB942A2FE}"/>
              </a:ext>
            </a:extLst>
          </p:cNvPr>
          <p:cNvSpPr txBox="1"/>
          <p:nvPr/>
        </p:nvSpPr>
        <p:spPr>
          <a:xfrm>
            <a:off x="5340815" y="4792398"/>
            <a:ext cx="1719740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ea typeface="KaiTi" panose="02010609060101010101" pitchFamily="49" charset="-122"/>
                <a:cs typeface="Times New Roman" panose="02020603050405020304" pitchFamily="18" charset="0"/>
              </a:rPr>
              <a:t>平等性智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3C5862-9742-0F44-A1C9-BA68BB3735E6}"/>
              </a:ext>
            </a:extLst>
          </p:cNvPr>
          <p:cNvSpPr txBox="1"/>
          <p:nvPr/>
        </p:nvSpPr>
        <p:spPr>
          <a:xfrm>
            <a:off x="5340814" y="5223879"/>
            <a:ext cx="1719741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ea typeface="KaiTi" panose="02010609060101010101" pitchFamily="49" charset="-122"/>
                <a:cs typeface="Times New Roman" panose="02020603050405020304" pitchFamily="18" charset="0"/>
              </a:rPr>
              <a:t>妙观察智</a:t>
            </a:r>
          </a:p>
        </p:txBody>
      </p:sp>
    </p:spTree>
    <p:extLst>
      <p:ext uri="{BB962C8B-B14F-4D97-AF65-F5344CB8AC3E}">
        <p14:creationId xmlns:p14="http://schemas.microsoft.com/office/powerpoint/2010/main" val="358010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3D0AE4-C620-2046-85E8-53F8462E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7830" y="558800"/>
            <a:ext cx="6276340" cy="5923279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zh-CN" sz="2000" kern="0" spc="75" dirty="0">
                <a:solidFill>
                  <a:srgbClr val="C00000"/>
                </a:solidFill>
                <a:latin typeface="KaiTi" panose="02010609060101010101" pitchFamily="49" charset="-122"/>
              </a:rPr>
              <a:t>尔时，世尊以偈答曰：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zh-CN" sz="2000" kern="0" spc="75" dirty="0">
                <a:latin typeface="KaiTi" panose="02010609060101010101" pitchFamily="49" charset="-122"/>
              </a:rPr>
              <a:t>若说真实者 彼心无真实 譬如海波浪 镜中像及梦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一切俱时现 心境界亦然 境界不具故 次第业转生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识者识所识 意者意谓然 五则以显现 无有定次第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譬如工画师 及与画弟子 布彩图众形 我说亦如是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彩色本无文 非笔亦非素 为悦众生故 绮错绘众像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言说别施行 真实离名字 分别应初业 修行示真实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真实自悟处 觉想所觉离 此为佛子说 愚者广分别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种种皆如幻 虽现无真实 如是种种说 随事别施设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所说非所应 于彼为非说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彼彼诸病人 良医随处方 如来为众生 随心应量说</a:t>
            </a:r>
            <a:br>
              <a:rPr lang="en-US" altLang="zh-CN" sz="2000" kern="0" spc="75" dirty="0">
                <a:latin typeface="KaiTi" panose="02010609060101010101" pitchFamily="49" charset="-122"/>
              </a:rPr>
            </a:br>
            <a:r>
              <a:rPr lang="zh-CN" altLang="zh-CN" sz="2000" kern="0" spc="75" dirty="0">
                <a:latin typeface="KaiTi" panose="02010609060101010101" pitchFamily="49" charset="-122"/>
              </a:rPr>
              <a:t>妄想非境界 声闻亦非分 哀愍者所说 自觉之境界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E2C57C0-56B4-FA45-AF64-66246F87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08" y="223520"/>
            <a:ext cx="698272" cy="641096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楞伽经之藏识海</a:t>
            </a:r>
          </a:p>
        </p:txBody>
      </p:sp>
    </p:spTree>
    <p:extLst>
      <p:ext uri="{BB962C8B-B14F-4D97-AF65-F5344CB8AC3E}">
        <p14:creationId xmlns:p14="http://schemas.microsoft.com/office/powerpoint/2010/main" val="330059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51D6D0A-D47E-8C49-815A-BD50A08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651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2400" dirty="0">
            <a:ea typeface="KaiTi" panose="02010609060101010101" pitchFamily="49" charset="-122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2" id="{782FA275-A6CC-6641-A719-220A728F4D21}" vid="{9A90AE69-1B27-5748-A930-5EFF14B7535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10</TotalTime>
  <Words>273</Words>
  <Application>Microsoft Macintosh PowerPoint</Application>
  <PresentationFormat>宽屏</PresentationFormat>
  <Paragraphs>18</Paragraphs>
  <Slides>3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KaiTi</vt:lpstr>
      <vt:lpstr>Arial</vt:lpstr>
      <vt:lpstr>Calibri</vt:lpstr>
      <vt:lpstr>Times New Roman</vt:lpstr>
      <vt:lpstr>Wingdings</vt:lpstr>
      <vt:lpstr>Office 主题​​</vt:lpstr>
      <vt:lpstr>九识</vt:lpstr>
      <vt:lpstr>楞伽经之藏识海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 one 论文</dc:title>
  <dc:creator>吴敏</dc:creator>
  <cp:lastModifiedBy>吴敏</cp:lastModifiedBy>
  <cp:revision>2</cp:revision>
  <dcterms:created xsi:type="dcterms:W3CDTF">2023-06-14T13:55:14Z</dcterms:created>
  <dcterms:modified xsi:type="dcterms:W3CDTF">2023-06-14T14:06:02Z</dcterms:modified>
</cp:coreProperties>
</file>